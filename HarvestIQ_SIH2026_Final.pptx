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97" r:id="rId3"/>
    <p:sldId id="281" r:id="rId4"/>
    <p:sldId id="290" r:id="rId5"/>
    <p:sldId id="293" r:id="rId6"/>
    <p:sldId id="294" r:id="rId7"/>
    <p:sldId id="296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EB42FED-B95C-4518-B396-BD4C5F99F486}" v="1" dt="2026-09-14T19:13:45.89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67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aik Aman" userId="530fa9149c7ef315" providerId="LiveId" clId="{FA860A44-5A79-42E9-AFA7-10BAC9F2F48C}"/>
    <pc:docChg chg="addSld modSld">
      <pc:chgData name="Shaik Aman" userId="530fa9149c7ef315" providerId="LiveId" clId="{FA860A44-5A79-42E9-AFA7-10BAC9F2F48C}" dt="2026-09-14T19:13:45.887" v="1"/>
      <pc:docMkLst>
        <pc:docMk/>
      </pc:docMkLst>
      <pc:sldChg chg="modSp mod">
        <pc:chgData name="Shaik Aman" userId="530fa9149c7ef315" providerId="LiveId" clId="{FA860A44-5A79-42E9-AFA7-10BAC9F2F48C}" dt="2026-09-14T08:14:17.789" v="0" actId="1076"/>
        <pc:sldMkLst>
          <pc:docMk/>
          <pc:sldMk cId="0" sldId="291"/>
        </pc:sldMkLst>
        <pc:spChg chg="mod">
          <ac:chgData name="Shaik Aman" userId="530fa9149c7ef315" providerId="LiveId" clId="{FA860A44-5A79-42E9-AFA7-10BAC9F2F48C}" dt="2026-09-14T08:14:17.789" v="0" actId="1076"/>
          <ac:spMkLst>
            <pc:docMk/>
            <pc:sldMk cId="0" sldId="291"/>
            <ac:spMk id="38" creationId="{00000000-0000-0000-0000-000000000000}"/>
          </ac:spMkLst>
        </pc:spChg>
      </pc:sldChg>
      <pc:sldChg chg="add">
        <pc:chgData name="Shaik Aman" userId="530fa9149c7ef315" providerId="LiveId" clId="{FA860A44-5A79-42E9-AFA7-10BAC9F2F48C}" dt="2026-09-14T19:13:45.887" v="1"/>
        <pc:sldMkLst>
          <pc:docMk/>
          <pc:sldMk cId="4065725479" sldId="29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57200" y="182880"/>
            <a:ext cx="2926080" cy="256032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950" b="1">
                <a:solidFill>
                  <a:srgbClr val="FFFFFF"/>
                </a:solidFill>
                <a:latin typeface="Segoe UI"/>
              </a:defRPr>
            </a:pPr>
            <a:r>
              <a:t>SMART INDIA HACKATHON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75488"/>
            <a:ext cx="8961120" cy="438912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HARVESTIQ — Intelligent Solar Cold Storage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914400"/>
            <a:ext cx="8961120" cy="256032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Decentralized Solar Preservation &amp; Last-Mile Cold-Chain Technology for Smallholder Farmers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234440"/>
            <a:ext cx="4846320" cy="4892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94360" y="1353312"/>
            <a:ext cx="2743200" cy="256032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850" b="1">
                <a:solidFill>
                  <a:srgbClr val="FFFFFF"/>
                </a:solidFill>
                <a:latin typeface="Segoe UI"/>
              </a:defRPr>
            </a:pPr>
            <a:r>
              <a:t>OFFICIAL SUBMISSION DETAILS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1719072"/>
            <a:ext cx="4572000" cy="292608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r>
              <a:rPr sz="850" b="1">
                <a:solidFill>
                  <a:srgbClr val="0F172A"/>
                </a:solidFill>
                <a:latin typeface="Segoe UI"/>
              </a:rPr>
              <a:t>Problem Statement ID: </a:t>
            </a:r>
            <a:r>
              <a:rPr sz="850" b="1">
                <a:solidFill>
                  <a:srgbClr val="0070C0"/>
                </a:solidFill>
                <a:latin typeface="Arial"/>
              </a:rPr>
              <a:t>26005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048255"/>
            <a:ext cx="4572000" cy="438912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r>
              <a:rPr sz="850" b="1">
                <a:solidFill>
                  <a:srgbClr val="0F172A"/>
                </a:solidFill>
                <a:latin typeface="Segoe UI"/>
              </a:rPr>
              <a:t>Problem Statement Title: </a:t>
            </a:r>
            <a:r>
              <a:rPr sz="850" b="0">
                <a:solidFill>
                  <a:srgbClr val="1E293B"/>
                </a:solidFill>
                <a:latin typeface="Arial"/>
              </a:rPr>
              <a:t>Solar-Powered Smart Mini Cold Storage System for Fresh Vegetables in North Eastern Region (NER)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23744"/>
            <a:ext cx="4572000" cy="438912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r>
              <a:rPr sz="850" b="1">
                <a:solidFill>
                  <a:srgbClr val="0F172A"/>
                </a:solidFill>
                <a:latin typeface="Segoe UI"/>
              </a:rPr>
              <a:t>Theme: </a:t>
            </a:r>
            <a:r>
              <a:rPr sz="850" b="1">
                <a:solidFill>
                  <a:srgbClr val="166534"/>
                </a:solidFill>
                <a:latin typeface="Arial"/>
              </a:rPr>
              <a:t>Agriculture, FoodTech &amp; Rural Development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99232"/>
            <a:ext cx="4572000" cy="292608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r>
              <a:rPr sz="850" b="1">
                <a:solidFill>
                  <a:srgbClr val="0F172A"/>
                </a:solidFill>
                <a:latin typeface="Segoe UI"/>
              </a:rPr>
              <a:t>PS Category: </a:t>
            </a:r>
            <a:r>
              <a:rPr sz="850" b="1">
                <a:solidFill>
                  <a:srgbClr val="1E293B"/>
                </a:solidFill>
                <a:latin typeface="Arial"/>
              </a:rPr>
              <a:t>Hardware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3328415"/>
            <a:ext cx="4572000" cy="292608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r>
              <a:rPr sz="850" b="1">
                <a:solidFill>
                  <a:srgbClr val="0F172A"/>
                </a:solidFill>
                <a:latin typeface="Segoe UI"/>
              </a:rPr>
              <a:t>Team Name: </a:t>
            </a:r>
            <a:r>
              <a:rPr sz="850" b="1">
                <a:solidFill>
                  <a:srgbClr val="0284C7"/>
                </a:solidFill>
                <a:latin typeface="Arial"/>
              </a:rPr>
              <a:t>HarvestIQ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657599"/>
            <a:ext cx="4572000" cy="292608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r>
              <a:rPr sz="850" b="1">
                <a:solidFill>
                  <a:srgbClr val="0F172A"/>
                </a:solidFill>
                <a:latin typeface="Segoe UI"/>
              </a:rPr>
              <a:t>Team ID: </a:t>
            </a:r>
            <a:r>
              <a:rPr sz="850" b="0">
                <a:solidFill>
                  <a:srgbClr val="64748B"/>
                </a:solidFill>
                <a:latin typeface="Arial"/>
              </a:rPr>
              <a:t>[Registered on Portal]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3931920"/>
            <a:ext cx="4572000" cy="20574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4005072"/>
            <a:ext cx="4297680" cy="219456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defRPr sz="850" b="1">
                <a:solidFill>
                  <a:srgbClr val="0284C7"/>
                </a:solidFill>
                <a:latin typeface="Segoe UI"/>
              </a:defRPr>
            </a:pPr>
            <a:r>
              <a:t>PROJECT POSITIONING &amp; ARCHITECTURE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242816"/>
            <a:ext cx="4297680" cy="164592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spcAft>
                <a:spcPts val="300"/>
              </a:spcAft>
              <a:defRPr sz="760">
                <a:solidFill>
                  <a:srgbClr val="1E293B"/>
                </a:solidFill>
                <a:latin typeface="Arial"/>
              </a:defRPr>
            </a:pPr>
            <a:r>
              <a:t>• Core Positioning: Bringing intelligent, solar-powered preservation closer to the farmer through a compact, modular and IoT-enabled system.</a:t>
            </a:r>
          </a:p>
          <a:p>
            <a:pPr>
              <a:spcAft>
                <a:spcPts val="300"/>
              </a:spcAft>
              <a:defRPr sz="760">
                <a:solidFill>
                  <a:srgbClr val="1E293B"/>
                </a:solidFill>
                <a:latin typeface="Arial"/>
              </a:defRPr>
            </a:pPr>
            <a:r>
              <a:t>• Strategic Gap: Existing cold-storage systems address bulk storage. HarvestIQ focuses on the last-mile preservation gap between harvest and the larger cold chain.</a:t>
            </a:r>
          </a:p>
          <a:p>
            <a:pPr>
              <a:defRPr sz="760" b="1">
                <a:solidFill>
                  <a:srgbClr val="166534"/>
                </a:solidFill>
                <a:latin typeface="Segoe UI"/>
              </a:defRPr>
            </a:pPr>
            <a:r>
              <a:t>• Prototype Tech: 20–40 L Chamber  •  100W Solar PV + LiFePO4 Battery  •  Peltier Thermoelectric Cooling  •  ESP32 Multi-Sensor Telemetry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40680" y="1234440"/>
            <a:ext cx="6263640" cy="4892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5623560" y="1353312"/>
            <a:ext cx="3108960" cy="256032"/>
          </a:xfrm>
          <a:prstGeom prst="round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850" b="1">
                <a:solidFill>
                  <a:srgbClr val="FFFFFF"/>
                </a:solidFill>
                <a:latin typeface="Segoe UI"/>
              </a:defRPr>
            </a:pPr>
            <a:r>
              <a:t>PROBLEM &amp; REGIONAL CHALLENGE (NER)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23560" y="1664208"/>
            <a:ext cx="5897880" cy="219456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defRPr sz="850" b="1">
                <a:solidFill>
                  <a:srgbClr val="1E293B"/>
                </a:solidFill>
                <a:latin typeface="Segoe UI"/>
              </a:defRPr>
            </a:pPr>
            <a:r>
              <a:t>The Northeast Perishable Value Chain Bottleneck (Root-Cause Chain):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0" y="1920240"/>
            <a:ext cx="1234440" cy="475488"/>
          </a:xfrm>
          <a:prstGeom prst="round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00" b="1">
                <a:solidFill>
                  <a:srgbClr val="B91C1C"/>
                </a:solidFill>
                <a:latin typeface="Segoe UI"/>
              </a:defRPr>
            </a:pPr>
            <a:r>
              <a:t>1. FRESH HARVEST</a:t>
            </a:r>
            <a:br/>
            <a:r>
              <a:t>Field picking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76288" y="2029968"/>
            <a:ext cx="18288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900" b="1">
                <a:solidFill>
                  <a:srgbClr val="B91C1C"/>
                </a:solidFill>
                <a:latin typeface="Segoe UI"/>
              </a:defRPr>
            </a:pPr>
            <a:r>
              <a:t>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04888" y="1920240"/>
            <a:ext cx="1234440" cy="475488"/>
          </a:xfrm>
          <a:prstGeom prst="round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00" b="1">
                <a:solidFill>
                  <a:srgbClr val="B91C1C"/>
                </a:solidFill>
                <a:latin typeface="Segoe UI"/>
              </a:defRPr>
            </a:pPr>
            <a:r>
              <a:t>2. HIGH PERISHABILITY</a:t>
            </a:r>
            <a:br/>
            <a:r>
              <a:t>Rapid decay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57616" y="2029968"/>
            <a:ext cx="18288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900" b="1">
                <a:solidFill>
                  <a:srgbClr val="B91C1C"/>
                </a:solidFill>
                <a:latin typeface="Segoe UI"/>
              </a:defRPr>
            </a:pPr>
            <a:r>
              <a:t>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86216" y="1920240"/>
            <a:ext cx="1234440" cy="475488"/>
          </a:xfrm>
          <a:prstGeom prst="round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00" b="1">
                <a:solidFill>
                  <a:srgbClr val="B91C1C"/>
                </a:solidFill>
                <a:latin typeface="Segoe UI"/>
              </a:defRPr>
            </a:pPr>
            <a:r>
              <a:t>3. NO LOCAL COLD CHAIN</a:t>
            </a:r>
            <a:br/>
            <a:r>
              <a:t>Decentralized gap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38944" y="2029968"/>
            <a:ext cx="18288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900" b="1">
                <a:solidFill>
                  <a:srgbClr val="B91C1C"/>
                </a:solidFill>
                <a:latin typeface="Segoe UI"/>
              </a:defRPr>
            </a:pPr>
            <a:r>
              <a:t>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067544" y="1920240"/>
            <a:ext cx="1234440" cy="475488"/>
          </a:xfrm>
          <a:prstGeom prst="round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00" b="1">
                <a:solidFill>
                  <a:srgbClr val="B91C1C"/>
                </a:solidFill>
                <a:latin typeface="Segoe UI"/>
              </a:defRPr>
            </a:pPr>
            <a:r>
              <a:t>4. POWER INTERRUPTIONS</a:t>
            </a:r>
            <a:br/>
            <a:r>
              <a:t>Grid deficit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715000" y="2560320"/>
            <a:ext cx="36576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900" b="1">
                <a:solidFill>
                  <a:srgbClr val="B91C1C"/>
                </a:solidFill>
                <a:latin typeface="Segoe UI"/>
              </a:defRPr>
            </a:pPr>
            <a:r>
              <a:t>↳ 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2468880"/>
            <a:ext cx="1508760" cy="475488"/>
          </a:xfrm>
          <a:prstGeom prst="round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20" b="1">
                <a:solidFill>
                  <a:srgbClr val="B91C1C"/>
                </a:solidFill>
                <a:latin typeface="Segoe UI"/>
              </a:defRPr>
            </a:pPr>
            <a:r>
              <a:rPr dirty="0"/>
              <a:t>5. HILLY TRANSIT</a:t>
            </a:r>
            <a:br>
              <a:rPr dirty="0"/>
            </a:br>
            <a:r>
              <a:rPr dirty="0"/>
              <a:t>Slow connectivity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08392" y="2578608"/>
            <a:ext cx="201168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900" b="1">
                <a:solidFill>
                  <a:srgbClr val="B91C1C"/>
                </a:solidFill>
                <a:latin typeface="Segoe UI"/>
              </a:defRPr>
            </a:pPr>
            <a:r>
              <a:rPr dirty="0"/>
              <a:t>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55279" y="2478024"/>
            <a:ext cx="1508760" cy="475488"/>
          </a:xfrm>
          <a:prstGeom prst="round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20" b="1">
                <a:solidFill>
                  <a:srgbClr val="B91C1C"/>
                </a:solidFill>
                <a:latin typeface="Segoe UI"/>
              </a:defRPr>
            </a:pPr>
            <a:r>
              <a:t>6. FORCED EARLY SALE</a:t>
            </a:r>
            <a:br/>
            <a:r>
              <a:t>Buyer distress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491472" y="2578608"/>
            <a:ext cx="201168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900" b="1">
                <a:solidFill>
                  <a:srgbClr val="B91C1C"/>
                </a:solidFill>
                <a:latin typeface="Segoe UI"/>
              </a:defRPr>
            </a:pPr>
            <a:r>
              <a:t>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38359" y="2468880"/>
            <a:ext cx="1508760" cy="475488"/>
          </a:xfrm>
          <a:prstGeom prst="round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20" b="1">
                <a:solidFill>
                  <a:srgbClr val="B91C1C"/>
                </a:solidFill>
                <a:latin typeface="Segoe UI"/>
              </a:defRPr>
            </a:pPr>
            <a:r>
              <a:t>7. VALUE LOSS</a:t>
            </a:r>
            <a:br/>
            <a:r>
              <a:t>Income erosion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23560" y="3035808"/>
            <a:ext cx="2926080" cy="969264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715000" y="3090672"/>
            <a:ext cx="2743200" cy="859536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spcAft>
                <a:spcPts val="200"/>
              </a:spcAft>
              <a:defRPr sz="819" b="1">
                <a:solidFill>
                  <a:srgbClr val="B45309"/>
                </a:solidFill>
                <a:latin typeface="Segoe UI"/>
              </a:defRPr>
            </a:pPr>
            <a:r>
              <a:t>• High Vegetable Perishability</a:t>
            </a:r>
          </a:p>
          <a:p>
            <a:pPr>
              <a:defRPr sz="720">
                <a:solidFill>
                  <a:srgbClr val="334155"/>
                </a:solidFill>
                <a:latin typeface="Arial"/>
              </a:defRPr>
            </a:pPr>
            <a:r>
              <a:t>Fresh vegetables respire rapidly after harvest. In warm, humid climates, loss of moisture and nutrient decay degrades marketable quality within 24–48 hours without immediate cooling.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41080" y="3035808"/>
            <a:ext cx="2926080" cy="969264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732519" y="3090672"/>
            <a:ext cx="2743200" cy="859536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spcAft>
                <a:spcPts val="200"/>
              </a:spcAft>
              <a:defRPr sz="819" b="1">
                <a:solidFill>
                  <a:srgbClr val="0284C7"/>
                </a:solidFill>
                <a:latin typeface="Segoe UI"/>
              </a:defRPr>
            </a:pPr>
            <a:r>
              <a:t>• Difficult NER Terrain &amp; Transport</a:t>
            </a:r>
          </a:p>
          <a:p>
            <a:pPr>
              <a:defRPr sz="720">
                <a:solidFill>
                  <a:srgbClr val="334155"/>
                </a:solidFill>
                <a:latin typeface="Arial"/>
              </a:defRPr>
            </a:pPr>
            <a:r>
              <a:t>Hilly topography, scattered smallholdings, and vulnerable road networks severely delay farm-to-market transit, turning short distances into multi-day transit bottlenecks.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23560" y="4078224"/>
            <a:ext cx="2926080" cy="969264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715000" y="4133087"/>
            <a:ext cx="2743200" cy="859536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spcAft>
                <a:spcPts val="200"/>
              </a:spcAft>
              <a:defRPr sz="819" b="1">
                <a:solidFill>
                  <a:srgbClr val="B91C1C"/>
                </a:solidFill>
                <a:latin typeface="Segoe UI"/>
              </a:defRPr>
            </a:pPr>
            <a:r>
              <a:t>• Unreliable Rural Grid Electricity</a:t>
            </a:r>
          </a:p>
          <a:p>
            <a:pPr>
              <a:defRPr sz="720">
                <a:solidFill>
                  <a:srgbClr val="334155"/>
                </a:solidFill>
                <a:latin typeface="Arial"/>
              </a:defRPr>
            </a:pPr>
            <a:r>
              <a:t>Remote rural and hilly farming pockets experience frequent power outages or complete off-grid conditions, making conventional AC compressor cold rooms unfeasible.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41080" y="4078224"/>
            <a:ext cx="2926080" cy="969264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732519" y="4133087"/>
            <a:ext cx="2743200" cy="859536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spcAft>
                <a:spcPts val="200"/>
              </a:spcAft>
              <a:defRPr sz="819" b="1">
                <a:solidFill>
                  <a:srgbClr val="6D28D9"/>
                </a:solidFill>
                <a:latin typeface="Segoe UI"/>
              </a:defRPr>
            </a:pPr>
            <a:r>
              <a:t>• Distress Selling &amp; Loss of Value</a:t>
            </a:r>
          </a:p>
          <a:p>
            <a:pPr>
              <a:defRPr sz="720">
                <a:solidFill>
                  <a:srgbClr val="334155"/>
                </a:solidFill>
                <a:latin typeface="Arial"/>
              </a:defRPr>
            </a:pPr>
            <a:r>
              <a:t>Lacking accessible decentralized cold storage close to the farm, smallholders are forced into immediate distress selling at buyer-dictated low prices to avoid complete spoilage.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623560" y="5138928"/>
            <a:ext cx="5943600" cy="841248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715000" y="5175504"/>
            <a:ext cx="5760720" cy="768096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ctr">
              <a:defRPr sz="850" b="1">
                <a:solidFill>
                  <a:srgbClr val="166534"/>
                </a:solidFill>
                <a:latin typeface="Segoe UI"/>
              </a:defRPr>
            </a:pPr>
            <a:r>
              <a:t>CORE PROJECT OBJECTIVE</a:t>
            </a:r>
          </a:p>
          <a:p>
            <a:pPr algn="ctr"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“Preserve freshness closer to the farm and give farmers greater flexibility in when to sell.”</a:t>
            </a:r>
          </a:p>
          <a:p>
            <a:pPr algn="ctr">
              <a:defRPr sz="700" b="1">
                <a:solidFill>
                  <a:srgbClr val="166534"/>
                </a:solidFill>
                <a:latin typeface="Arial"/>
              </a:defRPr>
            </a:pPr>
            <a:r>
              <a:t>Visual Flow: Farmer  ➔  Fresh Harvest  ➔  Solar Energy  ➔  HarvestIQ Storage  ➔  Transport  ➔  Fair Market Value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82211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1400" dirty="0" err="1"/>
              <a:t>HarvestIQ</a:t>
            </a:r>
            <a:endParaRPr lang="en-IN" sz="1400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50" name="Picture 49" descr="A diagram illustrating the benefits of solar-powered smart storage, including enhanced rural employment, reduced food waste, and improved revenue through better sales timing.&#10;&#10;AI-generated content may be incorrect.">
            <a:extLst>
              <a:ext uri="{FF2B5EF4-FFF2-40B4-BE49-F238E27FC236}">
                <a16:creationId xmlns:a16="http://schemas.microsoft.com/office/drawing/2014/main" id="{76FE9421-4229-04D6-9B5F-8698E7DEF8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964860"/>
            <a:ext cx="12462235" cy="3419992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7D7FA658-AB87-C103-ACCB-F344A68EB323}"/>
              </a:ext>
            </a:extLst>
          </p:cNvPr>
          <p:cNvSpPr txBox="1"/>
          <p:nvPr/>
        </p:nvSpPr>
        <p:spPr>
          <a:xfrm>
            <a:off x="94268" y="4186915"/>
            <a:ext cx="1219199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Future Intelligence</a:t>
            </a:r>
          </a:p>
          <a:p>
            <a:r>
              <a:rPr lang="en-IN" b="1" dirty="0"/>
              <a:t>IoT → Data Analytics → Shelf-Life Prediction → Demand-Aware Storage</a:t>
            </a:r>
            <a:endParaRPr lang="en-IN" dirty="0"/>
          </a:p>
          <a:p>
            <a:pPr lvl="0"/>
            <a:r>
              <a:rPr lang="en-IN" b="1" dirty="0"/>
              <a:t>IoT:</a:t>
            </a:r>
            <a:r>
              <a:rPr lang="en-IN" dirty="0"/>
              <a:t> Collects real-time storage and environmental data. </a:t>
            </a:r>
          </a:p>
          <a:p>
            <a:pPr lvl="0"/>
            <a:r>
              <a:rPr lang="en-IN" b="1" dirty="0"/>
              <a:t>Data Analytics:</a:t>
            </a:r>
            <a:r>
              <a:rPr lang="en-IN" dirty="0"/>
              <a:t> Identifies storage patterns and trends. </a:t>
            </a:r>
          </a:p>
          <a:p>
            <a:pPr lvl="0"/>
            <a:r>
              <a:rPr lang="en-IN" b="1" dirty="0"/>
              <a:t>Shelf-Life Prediction:</a:t>
            </a:r>
            <a:r>
              <a:rPr lang="en-IN" dirty="0"/>
              <a:t> Estimates remaining freshness of stored produce. </a:t>
            </a:r>
          </a:p>
          <a:p>
            <a:pPr lvl="0"/>
            <a:r>
              <a:rPr lang="en-IN" b="1" dirty="0"/>
              <a:t>Demand-Aware Storage:</a:t>
            </a:r>
            <a:r>
              <a:rPr lang="en-IN" dirty="0"/>
              <a:t> Helps farmers plan storage and selling based on demand. </a:t>
            </a:r>
          </a:p>
          <a:p>
            <a:r>
              <a:rPr lang="en-IN" b="1" dirty="0"/>
              <a:t>Overall impact</a:t>
            </a:r>
            <a:r>
              <a:rPr lang="en-IN" dirty="0"/>
              <a:t>: Smarter decisions → Less wastage → Better market timing → Higher farmer value.</a:t>
            </a:r>
          </a:p>
        </p:txBody>
      </p:sp>
    </p:spTree>
    <p:extLst>
      <p:ext uri="{BB962C8B-B14F-4D97-AF65-F5344CB8AC3E}">
        <p14:creationId xmlns:p14="http://schemas.microsoft.com/office/powerpoint/2010/main" val="40657254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45920" y="73152"/>
            <a:ext cx="8046720" cy="438912"/>
          </a:xfrm>
        </p:spPr>
        <p:txBody>
          <a:bodyPr wrap="square"/>
          <a:lstStyle/>
          <a:p>
            <a:pPr algn="l" eaLnBrk="1" hangingPunct="1">
              <a:defRPr sz="2000" b="1">
                <a:solidFill>
                  <a:srgbClr val="0F172A"/>
                </a:solidFill>
                <a:latin typeface="Segoe UI"/>
              </a:defRPr>
            </a:pPr>
            <a:r>
              <a:t>HARVESTIQ — THE PROPOSED SOLUTION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>
                <a:defRPr sz="1000" b="1">
                  <a:solidFill>
                    <a:srgbClr val="FFFFFF"/>
                  </a:solidFill>
                  <a:latin typeface="Arial"/>
                </a:defRPr>
              </a:pPr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0040" y="109728"/>
            <a:ext cx="1188720" cy="59436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HarvestIQ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1645920" y="512064"/>
            <a:ext cx="8046720" cy="292608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Segoe UI"/>
              </a:defRPr>
            </a:pPr>
            <a:r>
              <a:t>Decentralized, Solar-Powered Micro-Preservation Addressing the Last-Mile Cold Chain Gap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457200" y="1078992"/>
            <a:ext cx="66751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64" name="Rounded Rectangle 15363"/>
          <p:cNvSpPr/>
          <p:nvPr/>
        </p:nvSpPr>
        <p:spPr>
          <a:xfrm>
            <a:off x="594360" y="1152144"/>
            <a:ext cx="2926080" cy="219456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PRODUCT CONCEPT &amp; PROTOTYPE PILLARS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594360" y="1426464"/>
            <a:ext cx="1508760" cy="292608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50" b="1">
                <a:solidFill>
                  <a:srgbClr val="0284C7"/>
                </a:solidFill>
                <a:latin typeface="Segoe UI"/>
              </a:defRPr>
            </a:pPr>
            <a:r>
              <a:t>COMPACT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2148840" y="1426464"/>
            <a:ext cx="4846320" cy="292608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defRPr sz="800">
                <a:solidFill>
                  <a:srgbClr val="334155"/>
                </a:solidFill>
                <a:latin typeface="Arial"/>
              </a:defRPr>
            </a:pPr>
            <a:r>
              <a:t>20–40 L farm-level portable cold chamber designed for smallholder harvest batching.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594360" y="1755648"/>
            <a:ext cx="1508760" cy="292608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50" b="1">
                <a:solidFill>
                  <a:srgbClr val="B45309"/>
                </a:solidFill>
                <a:latin typeface="Segoe UI"/>
              </a:defRPr>
            </a:pPr>
            <a:r>
              <a:t>SOLAR POWERED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2148840" y="1755648"/>
            <a:ext cx="4846320" cy="292608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defRPr sz="800">
                <a:solidFill>
                  <a:srgbClr val="334155"/>
                </a:solidFill>
                <a:latin typeface="Arial"/>
              </a:defRPr>
            </a:pPr>
            <a:r>
              <a:t>100W Solar PV + LiFePO4 battery backup for 100% off-grid reliability.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594360" y="2084831"/>
            <a:ext cx="1508760" cy="292608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50" b="1">
                <a:solidFill>
                  <a:srgbClr val="166534"/>
                </a:solidFill>
                <a:latin typeface="Segoe UI"/>
              </a:defRPr>
            </a:pPr>
            <a:r>
              <a:t>SMART CONTROL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2148840" y="2084831"/>
            <a:ext cx="4846320" cy="292608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defRPr sz="800">
                <a:solidFill>
                  <a:srgbClr val="334155"/>
                </a:solidFill>
                <a:latin typeface="Arial"/>
              </a:defRPr>
            </a:pPr>
            <a:r>
              <a:t>ESP32 microcontroller automating closed-loop cooling and thermal stability.</a:t>
            </a:r>
          </a:p>
        </p:txBody>
      </p:sp>
      <p:sp>
        <p:nvSpPr>
          <p:cNvPr id="15371" name="Rounded Rectangle 15370"/>
          <p:cNvSpPr/>
          <p:nvPr/>
        </p:nvSpPr>
        <p:spPr>
          <a:xfrm>
            <a:off x="594360" y="2414015"/>
            <a:ext cx="1508760" cy="292608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50" b="1">
                <a:solidFill>
                  <a:srgbClr val="6D28D9"/>
                </a:solidFill>
                <a:latin typeface="Segoe UI"/>
              </a:defRPr>
            </a:pPr>
            <a:r>
              <a:t>IoT MONITORING</a:t>
            </a:r>
          </a:p>
        </p:txBody>
      </p:sp>
      <p:sp>
        <p:nvSpPr>
          <p:cNvPr id="15372" name="TextBox 15371"/>
          <p:cNvSpPr txBox="1"/>
          <p:nvPr/>
        </p:nvSpPr>
        <p:spPr>
          <a:xfrm>
            <a:off x="2148840" y="2414015"/>
            <a:ext cx="4846320" cy="292608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defRPr sz="800">
                <a:solidFill>
                  <a:srgbClr val="334155"/>
                </a:solidFill>
                <a:latin typeface="Arial"/>
              </a:defRPr>
            </a:pPr>
            <a:r>
              <a:t>Multi-parameter telemetry: chamber temperature, humidity, door status &amp; battery.</a:t>
            </a:r>
          </a:p>
        </p:txBody>
      </p:sp>
      <p:sp>
        <p:nvSpPr>
          <p:cNvPr id="15373" name="Rounded Rectangle 15372"/>
          <p:cNvSpPr/>
          <p:nvPr/>
        </p:nvSpPr>
        <p:spPr>
          <a:xfrm>
            <a:off x="594360" y="2743199"/>
            <a:ext cx="1508760" cy="292608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50" b="1">
                <a:solidFill>
                  <a:srgbClr val="0284C7"/>
                </a:solidFill>
                <a:latin typeface="Segoe UI"/>
              </a:defRPr>
            </a:pPr>
            <a:r>
              <a:t>FARMER INTERFACE</a:t>
            </a:r>
          </a:p>
        </p:txBody>
      </p:sp>
      <p:sp>
        <p:nvSpPr>
          <p:cNvPr id="15374" name="TextBox 15373"/>
          <p:cNvSpPr txBox="1"/>
          <p:nvPr/>
        </p:nvSpPr>
        <p:spPr>
          <a:xfrm>
            <a:off x="2148840" y="2743199"/>
            <a:ext cx="4846320" cy="292608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defRPr sz="800">
                <a:solidFill>
                  <a:srgbClr val="334155"/>
                </a:solidFill>
                <a:latin typeface="Arial"/>
              </a:defRPr>
            </a:pPr>
            <a:r>
              <a:t>Simple local indicators, mobile dashboard alerts &amp; proactive anomaly warnings.</a:t>
            </a:r>
          </a:p>
        </p:txBody>
      </p:sp>
      <p:sp>
        <p:nvSpPr>
          <p:cNvPr id="15375" name="TextBox 15374"/>
          <p:cNvSpPr txBox="1"/>
          <p:nvPr/>
        </p:nvSpPr>
        <p:spPr>
          <a:xfrm>
            <a:off x="594360" y="3090672"/>
            <a:ext cx="6400800" cy="18288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defRPr sz="750" b="1">
                <a:solidFill>
                  <a:srgbClr val="0284C7"/>
                </a:solidFill>
                <a:latin typeface="Segoe UI"/>
              </a:defRPr>
            </a:pPr>
            <a:r>
              <a:t>• Solid-state Peltier-based cooling maintains suitable storage conditions for the compact prototype.</a:t>
            </a:r>
          </a:p>
        </p:txBody>
      </p:sp>
      <p:sp>
        <p:nvSpPr>
          <p:cNvPr id="15376" name="Rounded Rectangle 15375"/>
          <p:cNvSpPr/>
          <p:nvPr/>
        </p:nvSpPr>
        <p:spPr>
          <a:xfrm>
            <a:off x="7269480" y="1078992"/>
            <a:ext cx="448056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377" name="Picture 15376" descr="hero_cold_stor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0920" y="1152144"/>
            <a:ext cx="4297680" cy="1783080"/>
          </a:xfrm>
          <a:prstGeom prst="rect">
            <a:avLst/>
          </a:prstGeom>
        </p:spPr>
      </p:pic>
      <p:sp>
        <p:nvSpPr>
          <p:cNvPr id="15378" name="Rounded Rectangle 15377"/>
          <p:cNvSpPr/>
          <p:nvPr/>
        </p:nvSpPr>
        <p:spPr>
          <a:xfrm>
            <a:off x="7360920" y="2980944"/>
            <a:ext cx="4297680" cy="2743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50" b="1">
                <a:solidFill>
                  <a:srgbClr val="0F172A"/>
                </a:solidFill>
                <a:latin typeface="Segoe UI"/>
              </a:defRPr>
            </a:pPr>
            <a:r>
              <a:t>HarvestIQ Farm-Gate Micro Solar Cold Storage Concept</a:t>
            </a:r>
          </a:p>
        </p:txBody>
      </p:sp>
      <p:sp>
        <p:nvSpPr>
          <p:cNvPr id="15379" name="Rounded Rectangle 15378"/>
          <p:cNvSpPr/>
          <p:nvPr/>
        </p:nvSpPr>
        <p:spPr>
          <a:xfrm>
            <a:off x="457200" y="3401568"/>
            <a:ext cx="1129284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80" name="Rounded Rectangle 15379"/>
          <p:cNvSpPr/>
          <p:nvPr/>
        </p:nvSpPr>
        <p:spPr>
          <a:xfrm>
            <a:off x="594360" y="3493008"/>
            <a:ext cx="3520440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81" name="TextBox 15380"/>
          <p:cNvSpPr txBox="1"/>
          <p:nvPr/>
        </p:nvSpPr>
        <p:spPr>
          <a:xfrm>
            <a:off x="685800" y="3529584"/>
            <a:ext cx="3337560" cy="749808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1E293B"/>
                </a:solidFill>
                <a:latin typeface="Segoe UI"/>
              </a:defRPr>
            </a:pPr>
            <a:r>
              <a:t>EXISTING INFRASTRUCTURE</a:t>
            </a:r>
          </a:p>
          <a:p>
            <a:pPr>
              <a:defRPr sz="720">
                <a:solidFill>
                  <a:srgbClr val="64748B"/>
                </a:solidFill>
                <a:latin typeface="Arial"/>
              </a:defRPr>
            </a:pPr>
            <a:r>
              <a:t>Large / bulk cold-storage infrastructure and centralized compressor facilities. High capital cost, grid-reliant, and situated far from remote hilly farmsteads.</a:t>
            </a:r>
          </a:p>
        </p:txBody>
      </p:sp>
      <p:sp>
        <p:nvSpPr>
          <p:cNvPr id="15382" name="Rounded Rectangle 15381"/>
          <p:cNvSpPr/>
          <p:nvPr/>
        </p:nvSpPr>
        <p:spPr>
          <a:xfrm>
            <a:off x="4343400" y="3493008"/>
            <a:ext cx="3520440" cy="82296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83" name="TextBox 15382"/>
          <p:cNvSpPr txBox="1"/>
          <p:nvPr/>
        </p:nvSpPr>
        <p:spPr>
          <a:xfrm>
            <a:off x="4434840" y="3529584"/>
            <a:ext cx="3337560" cy="749808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B45309"/>
                </a:solidFill>
                <a:latin typeface="Segoe UI"/>
              </a:defRPr>
            </a:pPr>
            <a:r>
              <a:t>THE UNADDRESSED GAP</a:t>
            </a:r>
          </a:p>
          <a:p>
            <a:pPr>
              <a:defRPr sz="720">
                <a:solidFill>
                  <a:srgbClr val="334155"/>
                </a:solidFill>
                <a:latin typeface="Arial"/>
              </a:defRPr>
            </a:pPr>
            <a:r>
              <a:t>Small &amp; marginal farmers need a compact, accessible preservation layer right at harvest / collection points for short-term (24–72h) buffer storage before transit.</a:t>
            </a:r>
          </a:p>
        </p:txBody>
      </p:sp>
      <p:sp>
        <p:nvSpPr>
          <p:cNvPr id="15384" name="Rounded Rectangle 15383"/>
          <p:cNvSpPr/>
          <p:nvPr/>
        </p:nvSpPr>
        <p:spPr>
          <a:xfrm>
            <a:off x="8092440" y="3493008"/>
            <a:ext cx="3520440" cy="82296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85" name="TextBox 15384"/>
          <p:cNvSpPr txBox="1"/>
          <p:nvPr/>
        </p:nvSpPr>
        <p:spPr>
          <a:xfrm>
            <a:off x="8183879" y="3529584"/>
            <a:ext cx="3337560" cy="749808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0070C0"/>
                </a:solidFill>
                <a:latin typeface="Segoe UI"/>
              </a:defRPr>
            </a:pPr>
            <a:r>
              <a:t>HARVESTIQ SOLUTION</a:t>
            </a:r>
          </a:p>
          <a:p>
            <a:pPr>
              <a:defRPr sz="720">
                <a:solidFill>
                  <a:srgbClr val="334155"/>
                </a:solidFill>
                <a:latin typeface="Arial"/>
              </a:defRPr>
            </a:pPr>
            <a:r>
              <a:t>Compact (20–40L) + 100% Solar DC + LiFePO4 battery + Solid-state Peltier + ESP32 edge control + Multi-sensor IoT telemetry.</a:t>
            </a:r>
          </a:p>
        </p:txBody>
      </p:sp>
      <p:sp>
        <p:nvSpPr>
          <p:cNvPr id="15386" name="Rounded Rectangle 15385"/>
          <p:cNvSpPr/>
          <p:nvPr/>
        </p:nvSpPr>
        <p:spPr>
          <a:xfrm>
            <a:off x="594360" y="4370832"/>
            <a:ext cx="11018520" cy="237744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800" b="1">
                <a:solidFill>
                  <a:srgbClr val="166534"/>
                </a:solidFill>
                <a:latin typeface="Segoe UI"/>
              </a:defRPr>
            </a:pPr>
            <a:r>
              <a:t>STRATEGIC DIFFERENTIATION: “Not replacing large cold rooms — filling the last-mile preservation gap.”</a:t>
            </a:r>
          </a:p>
        </p:txBody>
      </p:sp>
      <p:sp>
        <p:nvSpPr>
          <p:cNvPr id="15387" name="Rounded Rectangle 15386"/>
          <p:cNvSpPr/>
          <p:nvPr/>
        </p:nvSpPr>
        <p:spPr>
          <a:xfrm>
            <a:off x="457200" y="4754880"/>
            <a:ext cx="112928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88" name="Rounded Rectangle 15387"/>
          <p:cNvSpPr/>
          <p:nvPr/>
        </p:nvSpPr>
        <p:spPr>
          <a:xfrm>
            <a:off x="594360" y="4828032"/>
            <a:ext cx="2377440" cy="219456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INNOVATION &amp; SYSTEM UNIQUENESS</a:t>
            </a:r>
          </a:p>
        </p:txBody>
      </p:sp>
      <p:sp>
        <p:nvSpPr>
          <p:cNvPr id="15389" name="TextBox 15388"/>
          <p:cNvSpPr txBox="1"/>
          <p:nvPr/>
        </p:nvSpPr>
        <p:spPr>
          <a:xfrm>
            <a:off x="594360" y="5102352"/>
            <a:ext cx="3520440" cy="475488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defRPr sz="780" b="1">
                <a:solidFill>
                  <a:srgbClr val="0284C7"/>
                </a:solidFill>
                <a:latin typeface="Segoe UI"/>
              </a:defRPr>
            </a:pPr>
            <a:r>
              <a:t>1. Decentralized Farm Architecture</a:t>
            </a:r>
          </a:p>
          <a:p>
            <a:pPr>
              <a:defRPr sz="700">
                <a:solidFill>
                  <a:srgbClr val="334155"/>
                </a:solidFill>
                <a:latin typeface="Arial"/>
              </a:defRPr>
            </a:pPr>
            <a:r>
              <a:t>Micro-storage situated directly at farm level for immediate post-harvest heat removal.</a:t>
            </a:r>
          </a:p>
        </p:txBody>
      </p:sp>
      <p:sp>
        <p:nvSpPr>
          <p:cNvPr id="15390" name="TextBox 15389"/>
          <p:cNvSpPr txBox="1"/>
          <p:nvPr/>
        </p:nvSpPr>
        <p:spPr>
          <a:xfrm>
            <a:off x="4343400" y="5102352"/>
            <a:ext cx="3520440" cy="475488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defRPr sz="780" b="1">
                <a:solidFill>
                  <a:srgbClr val="0284C7"/>
                </a:solidFill>
                <a:latin typeface="Segoe UI"/>
              </a:defRPr>
            </a:pPr>
            <a:r>
              <a:t>2. 100% Off-Grid Solar + Battery</a:t>
            </a:r>
          </a:p>
          <a:p>
            <a:pPr>
              <a:defRPr sz="700">
                <a:solidFill>
                  <a:srgbClr val="334155"/>
                </a:solidFill>
                <a:latin typeface="Arial"/>
              </a:defRPr>
            </a:pPr>
            <a:r>
              <a:t>Dedicated DC power bus with LiFePO4 battery buffer eliminating grid dependence.</a:t>
            </a:r>
          </a:p>
        </p:txBody>
      </p:sp>
      <p:sp>
        <p:nvSpPr>
          <p:cNvPr id="15391" name="TextBox 15390"/>
          <p:cNvSpPr txBox="1"/>
          <p:nvPr/>
        </p:nvSpPr>
        <p:spPr>
          <a:xfrm>
            <a:off x="8092440" y="5102352"/>
            <a:ext cx="3520440" cy="475488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defRPr sz="780" b="1">
                <a:solidFill>
                  <a:srgbClr val="0284C7"/>
                </a:solidFill>
                <a:latin typeface="Segoe UI"/>
              </a:defRPr>
            </a:pPr>
            <a:r>
              <a:t>3. Multi-Parameter Sensing Suite</a:t>
            </a:r>
          </a:p>
          <a:p>
            <a:pPr>
              <a:defRPr sz="700">
                <a:solidFill>
                  <a:srgbClr val="334155"/>
                </a:solidFill>
                <a:latin typeface="Arial"/>
              </a:defRPr>
            </a:pPr>
            <a:r>
              <a:t>Real-time telemetry of temp, humidity, door ajar status, and battery state of charge.</a:t>
            </a:r>
          </a:p>
        </p:txBody>
      </p:sp>
      <p:sp>
        <p:nvSpPr>
          <p:cNvPr id="15392" name="TextBox 15391"/>
          <p:cNvSpPr txBox="1"/>
          <p:nvPr/>
        </p:nvSpPr>
        <p:spPr>
          <a:xfrm>
            <a:off x="594360" y="5632704"/>
            <a:ext cx="2606040" cy="475488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defRPr sz="780" b="1">
                <a:solidFill>
                  <a:srgbClr val="0284C7"/>
                </a:solidFill>
                <a:latin typeface="Segoe UI"/>
              </a:defRPr>
            </a:pPr>
            <a:r>
              <a:t>4. Automated Edge Cooling Control</a:t>
            </a:r>
          </a:p>
          <a:p>
            <a:pPr>
              <a:defRPr sz="700">
                <a:solidFill>
                  <a:srgbClr val="334155"/>
                </a:solidFill>
                <a:latin typeface="Arial"/>
              </a:defRPr>
            </a:pPr>
            <a:r>
              <a:t>Autonomous ESP32 firmware executes local hysteresis cooling logic without internet latency.</a:t>
            </a:r>
          </a:p>
        </p:txBody>
      </p:sp>
      <p:sp>
        <p:nvSpPr>
          <p:cNvPr id="15393" name="TextBox 15392"/>
          <p:cNvSpPr txBox="1"/>
          <p:nvPr/>
        </p:nvSpPr>
        <p:spPr>
          <a:xfrm>
            <a:off x="3337560" y="5632704"/>
            <a:ext cx="2606040" cy="475488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defRPr sz="780" b="1">
                <a:solidFill>
                  <a:srgbClr val="0284C7"/>
                </a:solidFill>
                <a:latin typeface="Segoe UI"/>
              </a:defRPr>
            </a:pPr>
            <a:r>
              <a:t>5. Proactive Alerting System</a:t>
            </a:r>
          </a:p>
          <a:p>
            <a:pPr>
              <a:defRPr sz="700">
                <a:solidFill>
                  <a:srgbClr val="334155"/>
                </a:solidFill>
                <a:latin typeface="Arial"/>
              </a:defRPr>
            </a:pPr>
            <a:r>
              <a:t>Instant buzzer &amp; mobile notifications for prolonged door openings or thermal deviations.</a:t>
            </a:r>
          </a:p>
        </p:txBody>
      </p:sp>
      <p:sp>
        <p:nvSpPr>
          <p:cNvPr id="15394" name="TextBox 15393"/>
          <p:cNvSpPr txBox="1"/>
          <p:nvPr/>
        </p:nvSpPr>
        <p:spPr>
          <a:xfrm>
            <a:off x="6080760" y="5632704"/>
            <a:ext cx="2697480" cy="475488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defRPr sz="780" b="1">
                <a:solidFill>
                  <a:srgbClr val="6D28D9"/>
                </a:solidFill>
                <a:latin typeface="Segoe UI"/>
              </a:defRPr>
            </a:pPr>
            <a:r>
              <a:t>6. Crop-Specific Storage Profiles</a:t>
            </a:r>
          </a:p>
          <a:p>
            <a:pPr>
              <a:defRPr sz="700">
                <a:solidFill>
                  <a:srgbClr val="334155"/>
                </a:solidFill>
                <a:latin typeface="Arial"/>
              </a:defRPr>
            </a:pPr>
            <a:r>
              <a:t>[Proposed / Future Intelligence] Target temperature &amp; humidity presets tailored for specific crops.</a:t>
            </a:r>
          </a:p>
        </p:txBody>
      </p:sp>
      <p:sp>
        <p:nvSpPr>
          <p:cNvPr id="15395" name="TextBox 15394"/>
          <p:cNvSpPr txBox="1"/>
          <p:nvPr/>
        </p:nvSpPr>
        <p:spPr>
          <a:xfrm>
            <a:off x="8915400" y="5632704"/>
            <a:ext cx="2697480" cy="475488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defRPr sz="780" b="1">
                <a:solidFill>
                  <a:srgbClr val="6D28D9"/>
                </a:solidFill>
                <a:latin typeface="Segoe UI"/>
              </a:defRPr>
            </a:pPr>
            <a:r>
              <a:t>7. Predictive Pre-Cooling</a:t>
            </a:r>
          </a:p>
          <a:p>
            <a:pPr>
              <a:defRPr sz="700">
                <a:solidFill>
                  <a:srgbClr val="334155"/>
                </a:solidFill>
                <a:latin typeface="Arial"/>
              </a:defRPr>
            </a:pPr>
            <a:r>
              <a:t>[Proposed / Future Intelligence] Energy-aware pre-cooling scheduled during peak solar hours.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45920" y="73152"/>
            <a:ext cx="8046720" cy="438912"/>
          </a:xfrm>
        </p:spPr>
        <p:txBody>
          <a:bodyPr wrap="square"/>
          <a:lstStyle/>
          <a:p>
            <a:pPr algn="l" eaLnBrk="1" hangingPunct="1">
              <a:defRPr sz="2000" b="1">
                <a:solidFill>
                  <a:srgbClr val="0F172A"/>
                </a:solidFill>
                <a:latin typeface="Segoe UI"/>
              </a:defRPr>
            </a:pPr>
            <a: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fld id="{677C3CE7-23F7-4828-823C-E0205DF2CF97}" type="slidenum">
              <a:rPr lang="en-US" b="1">
                <a:solidFill>
                  <a:schemeClr val="bg1"/>
                </a:solidFill>
              </a:rPr>
              <a:pPr>
                <a:defRPr sz="1000" b="1">
                  <a:solidFill>
                    <a:srgbClr val="FFFFFF"/>
                  </a:solidFill>
                  <a:latin typeface="Arial"/>
                </a:defRPr>
              </a:pPr>
              <a:t>4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0040" y="109728"/>
            <a:ext cx="1188720" cy="59436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HarvestIQ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1645920" y="512064"/>
            <a:ext cx="8046720" cy="292608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Segoe UI"/>
              </a:defRPr>
            </a:pPr>
            <a:r>
              <a:t>System Architecture, Closed-Loop Control Logic &amp; Solid-State Thermal Management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57200" y="1078992"/>
            <a:ext cx="1129284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2" name="Rounded Rectangle 17411"/>
          <p:cNvSpPr/>
          <p:nvPr/>
        </p:nvSpPr>
        <p:spPr>
          <a:xfrm>
            <a:off x="594360" y="1152144"/>
            <a:ext cx="3108960" cy="219456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END-TO-END SYSTEM ARCHITECTURE &amp; DATA FLOW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594360" y="1426464"/>
            <a:ext cx="11018520" cy="841248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4" name="TextBox 17413"/>
          <p:cNvSpPr txBox="1"/>
          <p:nvPr/>
        </p:nvSpPr>
        <p:spPr>
          <a:xfrm>
            <a:off x="685800" y="1444752"/>
            <a:ext cx="10789920" cy="18288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defRPr sz="780" b="1">
                <a:solidFill>
                  <a:srgbClr val="B45309"/>
                </a:solidFill>
                <a:latin typeface="Segoe UI"/>
              </a:defRPr>
            </a:pPr>
            <a:r>
              <a:t>PATHWAY A: HARDWARE &amp; ENERGY FLOW (100% Off-Grid Dedicated DC Architecture)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685800" y="1645920"/>
            <a:ext cx="1280160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20" b="1">
                <a:solidFill>
                  <a:srgbClr val="0F172A"/>
                </a:solidFill>
                <a:latin typeface="Segoe UI"/>
              </a:defRPr>
            </a:pPr>
            <a:r>
              <a:t>☀ SOLAR PV</a:t>
            </a:r>
            <a:br/>
            <a:r>
              <a:t>100W Monocrystalline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1984248" y="1783080"/>
            <a:ext cx="201168" cy="237744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850" b="1">
                <a:solidFill>
                  <a:srgbClr val="B45309"/>
                </a:solidFill>
                <a:latin typeface="Segoe UI"/>
              </a:defRPr>
            </a:pPr>
            <a:r>
              <a:t>➔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2221991" y="1645920"/>
            <a:ext cx="1280160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20" b="1">
                <a:solidFill>
                  <a:srgbClr val="0F172A"/>
                </a:solidFill>
                <a:latin typeface="Segoe UI"/>
              </a:defRPr>
            </a:pPr>
            <a:r>
              <a:t>MPPT CHARGER</a:t>
            </a:r>
            <a:br/>
            <a:r>
              <a:t>High-efficiency buck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520439" y="1783080"/>
            <a:ext cx="201168" cy="237744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850" b="1">
                <a:solidFill>
                  <a:srgbClr val="B45309"/>
                </a:solidFill>
                <a:latin typeface="Segoe UI"/>
              </a:defRPr>
            </a:pPr>
            <a:r>
              <a:t>➔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3758183" y="1645920"/>
            <a:ext cx="1280160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20" b="1">
                <a:solidFill>
                  <a:srgbClr val="0F172A"/>
                </a:solidFill>
                <a:latin typeface="Segoe UI"/>
              </a:defRPr>
            </a:pPr>
            <a:r>
              <a:t>LiFePO4 BATTERY</a:t>
            </a:r>
            <a:br/>
            <a:r>
              <a:t>12V 20–40Ah pack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5056631" y="1783080"/>
            <a:ext cx="201168" cy="237744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850" b="1">
                <a:solidFill>
                  <a:srgbClr val="B45309"/>
                </a:solidFill>
                <a:latin typeface="Segoe UI"/>
              </a:defRPr>
            </a:pPr>
            <a:r>
              <a:t>➔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5294375" y="1645920"/>
            <a:ext cx="1280160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20" b="1">
                <a:solidFill>
                  <a:srgbClr val="0F172A"/>
                </a:solidFill>
                <a:latin typeface="Segoe UI"/>
              </a:defRPr>
            </a:pPr>
            <a:r>
              <a:t>DC POWER BUS</a:t>
            </a:r>
            <a:br/>
            <a:r>
              <a:t>Regulated 12V/5V rail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6592823" y="1783080"/>
            <a:ext cx="201168" cy="237744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850" b="1">
                <a:solidFill>
                  <a:srgbClr val="B45309"/>
                </a:solidFill>
                <a:latin typeface="Segoe UI"/>
              </a:defRPr>
            </a:pPr>
            <a:r>
              <a:t>➔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6830567" y="1645920"/>
            <a:ext cx="1280160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20" b="1">
                <a:solidFill>
                  <a:srgbClr val="0F172A"/>
                </a:solidFill>
                <a:latin typeface="Segoe UI"/>
              </a:defRPr>
            </a:pPr>
            <a:r>
              <a:t>PELTIER MODULE</a:t>
            </a:r>
            <a:br/>
            <a:r>
              <a:t>TEC1-12706 unit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8129015" y="1783080"/>
            <a:ext cx="201168" cy="237744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850" b="1">
                <a:solidFill>
                  <a:srgbClr val="B45309"/>
                </a:solidFill>
                <a:latin typeface="Segoe UI"/>
              </a:defRPr>
            </a:pPr>
            <a:r>
              <a:t>➔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8366759" y="1645920"/>
            <a:ext cx="1280160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20" b="1">
                <a:solidFill>
                  <a:srgbClr val="0F172A"/>
                </a:solidFill>
                <a:latin typeface="Segoe UI"/>
              </a:defRPr>
            </a:pPr>
            <a:r>
              <a:t>INSULATED BOX</a:t>
            </a:r>
            <a:br/>
            <a:r>
              <a:t>PUF chamber 20–40L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9665207" y="1783080"/>
            <a:ext cx="201168" cy="237744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850" b="1">
                <a:solidFill>
                  <a:srgbClr val="B45309"/>
                </a:solidFill>
                <a:latin typeface="Segoe UI"/>
              </a:defRPr>
            </a:pPr>
            <a:r>
              <a:t>➔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9902951" y="1645920"/>
            <a:ext cx="1280160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20" b="1">
                <a:solidFill>
                  <a:srgbClr val="0F172A"/>
                </a:solidFill>
                <a:latin typeface="Segoe UI"/>
              </a:defRPr>
            </a:pPr>
            <a:r>
              <a:t>FRESH PRODUCE</a:t>
            </a:r>
            <a:br/>
            <a:r>
              <a:t>4–8°C storage hold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594360" y="2322576"/>
            <a:ext cx="11018520" cy="8686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9" name="TextBox 17428"/>
          <p:cNvSpPr txBox="1"/>
          <p:nvPr/>
        </p:nvSpPr>
        <p:spPr>
          <a:xfrm>
            <a:off x="685800" y="2340864"/>
            <a:ext cx="10789920" cy="18288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defRPr sz="780" b="1">
                <a:solidFill>
                  <a:srgbClr val="0284C7"/>
                </a:solidFill>
                <a:latin typeface="Segoe UI"/>
              </a:defRPr>
            </a:pPr>
            <a:r>
              <a:t>PATHWAY B: SENSING, EDGE CONTROL &amp; IoT TELEMETRY FLOW (Closed-Loop Edge Execution)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685800" y="2542032"/>
            <a:ext cx="1536192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20" b="1">
                <a:solidFill>
                  <a:srgbClr val="0F172A"/>
                </a:solidFill>
                <a:latin typeface="Segoe UI"/>
              </a:defRPr>
            </a:pPr>
            <a:r>
              <a:t>SENSORS ARRAY</a:t>
            </a:r>
            <a:br/>
            <a:r>
              <a:t>Temp, RH, Door, Power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2240280" y="2688336"/>
            <a:ext cx="219456" cy="237744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850" b="1">
                <a:solidFill>
                  <a:srgbClr val="0284C7"/>
                </a:solidFill>
                <a:latin typeface="Segoe UI"/>
              </a:defRPr>
            </a:pPr>
            <a:r>
              <a:t>➔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2496312" y="2542032"/>
            <a:ext cx="1536192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20" b="1">
                <a:solidFill>
                  <a:srgbClr val="0F172A"/>
                </a:solidFill>
                <a:latin typeface="Segoe UI"/>
              </a:defRPr>
            </a:pPr>
            <a:r>
              <a:t>ESP32 CONTROLLER</a:t>
            </a:r>
            <a:br/>
            <a:r>
              <a:t>Dual-core FreeRTOS logic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4050791" y="2688336"/>
            <a:ext cx="219456" cy="237744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850" b="1">
                <a:solidFill>
                  <a:srgbClr val="0284C7"/>
                </a:solidFill>
                <a:latin typeface="Segoe UI"/>
              </a:defRPr>
            </a:pPr>
            <a:r>
              <a:t>➔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4306824" y="2542032"/>
            <a:ext cx="1536192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20" b="1">
                <a:solidFill>
                  <a:srgbClr val="0F172A"/>
                </a:solidFill>
                <a:latin typeface="Segoe UI"/>
              </a:defRPr>
            </a:pPr>
            <a:r>
              <a:t>MOSFET DRIVER</a:t>
            </a:r>
            <a:br/>
            <a:r>
              <a:t>PWM cooling modulation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5861304" y="2688336"/>
            <a:ext cx="219456" cy="237744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850" b="1">
                <a:solidFill>
                  <a:srgbClr val="0284C7"/>
                </a:solidFill>
                <a:latin typeface="Segoe UI"/>
              </a:defRPr>
            </a:pPr>
            <a:r>
              <a:t>➔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6117336" y="2542032"/>
            <a:ext cx="1536192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20" b="1">
                <a:solidFill>
                  <a:srgbClr val="0F172A"/>
                </a:solidFill>
                <a:latin typeface="Segoe UI"/>
              </a:defRPr>
            </a:pPr>
            <a:r>
              <a:t>ALERTS &amp; BUZZER</a:t>
            </a:r>
            <a:br/>
            <a:r>
              <a:t>Local LED + Audio alarm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7671815" y="2688336"/>
            <a:ext cx="219456" cy="237744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850" b="1">
                <a:solidFill>
                  <a:srgbClr val="0284C7"/>
                </a:solidFill>
                <a:latin typeface="Segoe UI"/>
              </a:defRPr>
            </a:pPr>
            <a:r>
              <a:t>➔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7927848" y="2542032"/>
            <a:ext cx="1536192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20" b="1">
                <a:solidFill>
                  <a:srgbClr val="0F172A"/>
                </a:solidFill>
                <a:latin typeface="Segoe UI"/>
              </a:defRPr>
            </a:pPr>
            <a:r>
              <a:t>IoT DASHBOARD</a:t>
            </a:r>
            <a:br/>
            <a:r>
              <a:t>Cloud / Wi-Fi / 4G telemetry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9482328" y="2688336"/>
            <a:ext cx="219456" cy="237744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850" b="1">
                <a:solidFill>
                  <a:srgbClr val="0284C7"/>
                </a:solidFill>
                <a:latin typeface="Segoe UI"/>
              </a:defRPr>
            </a:pPr>
            <a:r>
              <a:t>➔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9738360" y="2542032"/>
            <a:ext cx="1536192" cy="548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20" b="1">
                <a:solidFill>
                  <a:srgbClr val="0F172A"/>
                </a:solidFill>
                <a:latin typeface="Segoe UI"/>
              </a:defRPr>
            </a:pPr>
            <a:r>
              <a:t>FARMER MONITORING</a:t>
            </a:r>
            <a:br/>
            <a:r>
              <a:t>Mobile alerts &amp; historical logs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457200" y="3401568"/>
            <a:ext cx="64922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42" name="Rounded Rectangle 17441"/>
          <p:cNvSpPr/>
          <p:nvPr/>
        </p:nvSpPr>
        <p:spPr>
          <a:xfrm>
            <a:off x="594360" y="3474720"/>
            <a:ext cx="3108960" cy="219456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TECHNOLOGY LAYERS &amp; CLOSED-LOOP CONTROL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594360" y="3730752"/>
            <a:ext cx="6217920" cy="86868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spcAft>
                <a:spcPts val="200"/>
              </a:spcAft>
              <a:defRPr sz="720">
                <a:solidFill>
                  <a:srgbClr val="334155"/>
                </a:solidFill>
                <a:latin typeface="Arial"/>
              </a:defRPr>
            </a:pPr>
            <a:r>
              <a:rPr dirty="0"/>
              <a:t>• HARDWARE LAYER: 100W Solar PV, MPPT charge controller, 12V LiFePO4 battery, Peltier module (TEC1-12706), internal fan, external extruded heatsink + 120mm exhaust fan, ESP32 MCU, DS18B20 temp probe, SHT31 humidity sensor, reed door switch, INA219 power telemetry.</a:t>
            </a:r>
          </a:p>
          <a:p>
            <a:pPr>
              <a:defRPr sz="720">
                <a:solidFill>
                  <a:srgbClr val="334155"/>
                </a:solidFill>
                <a:latin typeface="Arial"/>
              </a:defRPr>
            </a:pPr>
            <a:r>
              <a:rPr dirty="0"/>
              <a:t>• SOFTWARE &amp; FIRMWARE: Embedded C/C++ (ESP-IDF / Arduino core), </a:t>
            </a:r>
            <a:r>
              <a:rPr dirty="0" err="1"/>
              <a:t>FreeRTOS</a:t>
            </a:r>
            <a:r>
              <a:rPr dirty="0"/>
              <a:t> dual-task execution, MQTT &amp; HTTP REST protocols, responsive web IoT dashboard.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594360" y="4645152"/>
            <a:ext cx="6217920" cy="1389888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45" name="TextBox 17444"/>
          <p:cNvSpPr txBox="1"/>
          <p:nvPr/>
        </p:nvSpPr>
        <p:spPr>
          <a:xfrm>
            <a:off x="685800" y="4681728"/>
            <a:ext cx="6035040" cy="1298448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spcAft>
                <a:spcPts val="200"/>
              </a:spcAft>
              <a:defRPr sz="780" b="1">
                <a:solidFill>
                  <a:srgbClr val="166534"/>
                </a:solidFill>
                <a:latin typeface="Segoe UI"/>
              </a:defRPr>
            </a:pPr>
            <a:r>
              <a:rPr dirty="0"/>
              <a:t>CLOSED-LOOP WORKFLOW: INPUT ➔ PROCESS ➔ DECISION ➔ OUTPUT ➔ FEEDBACK</a:t>
            </a:r>
          </a:p>
          <a:p>
            <a:r>
              <a:rPr sz="700" b="1" dirty="0">
                <a:solidFill>
                  <a:srgbClr val="0F172A"/>
                </a:solidFill>
                <a:latin typeface="Segoe UI"/>
              </a:rPr>
              <a:t>INPUT: </a:t>
            </a:r>
            <a:r>
              <a:rPr sz="700" dirty="0">
                <a:solidFill>
                  <a:srgbClr val="334155"/>
                </a:solidFill>
                <a:latin typeface="Arial"/>
              </a:rPr>
              <a:t>Continuous sensor acquisition: chamber temperature, ambient RH, door contact, and battery voltage/current.</a:t>
            </a:r>
          </a:p>
          <a:p>
            <a:r>
              <a:rPr sz="700" b="1" dirty="0">
                <a:solidFill>
                  <a:srgbClr val="0F172A"/>
                </a:solidFill>
                <a:latin typeface="Segoe UI"/>
              </a:rPr>
              <a:t>PROCESS: </a:t>
            </a:r>
            <a:r>
              <a:rPr sz="700" dirty="0">
                <a:solidFill>
                  <a:srgbClr val="334155"/>
                </a:solidFill>
                <a:latin typeface="Arial"/>
              </a:rPr>
              <a:t>ESP32 firmware evaluates real-time sensor readings against crop target setpoint band (4–8°C) and battery low-voltage threshold.</a:t>
            </a:r>
          </a:p>
          <a:p>
            <a:r>
              <a:rPr sz="700" b="1" dirty="0">
                <a:solidFill>
                  <a:srgbClr val="0F172A"/>
                </a:solidFill>
                <a:latin typeface="Segoe UI"/>
              </a:rPr>
              <a:t>DECISION: </a:t>
            </a:r>
            <a:r>
              <a:rPr sz="700" dirty="0">
                <a:solidFill>
                  <a:srgbClr val="334155"/>
                </a:solidFill>
                <a:latin typeface="Arial"/>
              </a:rPr>
              <a:t>Is chamber temp &gt; Setpoint + Hysteresis? Is battery charge safe (&gt;11.5V)? Is chamber door securely closed?</a:t>
            </a:r>
          </a:p>
          <a:p>
            <a:r>
              <a:rPr sz="700" b="1" dirty="0">
                <a:solidFill>
                  <a:srgbClr val="0F172A"/>
                </a:solidFill>
                <a:latin typeface="Segoe UI"/>
              </a:rPr>
              <a:t>OUTPUT: </a:t>
            </a:r>
            <a:r>
              <a:rPr sz="700" dirty="0">
                <a:solidFill>
                  <a:srgbClr val="334155"/>
                </a:solidFill>
                <a:latin typeface="Arial"/>
              </a:rPr>
              <a:t>Actuate PWM power MOSFET to power Peltier &amp; fans; trigger audio-visual buzzer if door ajar; push telemetry to cloud.</a:t>
            </a:r>
          </a:p>
          <a:p>
            <a:r>
              <a:rPr sz="700" b="1" dirty="0">
                <a:solidFill>
                  <a:srgbClr val="0F172A"/>
                </a:solidFill>
                <a:latin typeface="Segoe UI"/>
              </a:rPr>
              <a:t>FEEDBACK: </a:t>
            </a:r>
            <a:r>
              <a:rPr sz="700" dirty="0">
                <a:solidFill>
                  <a:srgbClr val="334155"/>
                </a:solidFill>
                <a:latin typeface="Arial"/>
              </a:rPr>
              <a:t>Continuous 5-second polling loop provides closed-loop regulation, preventing thermal overshoot and battery over-discharge.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7086600" y="3401568"/>
            <a:ext cx="46634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47" name="Rounded Rectangle 17446"/>
          <p:cNvSpPr/>
          <p:nvPr/>
        </p:nvSpPr>
        <p:spPr>
          <a:xfrm>
            <a:off x="7223760" y="3474720"/>
            <a:ext cx="3291840" cy="219456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SOLID-STATE THERMOELECTRIC PRINCIPLE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7223760" y="3730752"/>
            <a:ext cx="4389120" cy="1188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49" name="Rounded Rectangle 17448"/>
          <p:cNvSpPr/>
          <p:nvPr/>
        </p:nvSpPr>
        <p:spPr>
          <a:xfrm>
            <a:off x="7269480" y="3767328"/>
            <a:ext cx="1280160" cy="18288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680" b="1">
                <a:solidFill>
                  <a:srgbClr val="0284C7"/>
                </a:solidFill>
                <a:latin typeface="Segoe UI"/>
              </a:defRPr>
            </a:pPr>
            <a:r>
              <a:t>STORAGE CHAMBER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8595360" y="3767328"/>
            <a:ext cx="2926080" cy="18288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defRPr sz="680">
                <a:solidFill>
                  <a:srgbClr val="334155"/>
                </a:solidFill>
                <a:latin typeface="Arial"/>
              </a:defRPr>
            </a:pPr>
            <a:r>
              <a:t>Enclosed 20–40L insulated space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7269480" y="3977640"/>
            <a:ext cx="1280160" cy="18288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680" b="1">
                <a:solidFill>
                  <a:srgbClr val="0070C0"/>
                </a:solidFill>
                <a:latin typeface="Segoe UI"/>
              </a:defRPr>
            </a:pPr>
            <a:r>
              <a:t>COLD SIDE PLATE</a:t>
            </a:r>
          </a:p>
        </p:txBody>
      </p:sp>
      <p:sp>
        <p:nvSpPr>
          <p:cNvPr id="17452" name="TextBox 17451"/>
          <p:cNvSpPr txBox="1"/>
          <p:nvPr/>
        </p:nvSpPr>
        <p:spPr>
          <a:xfrm>
            <a:off x="8595360" y="3977640"/>
            <a:ext cx="2926080" cy="18288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defRPr sz="680">
                <a:solidFill>
                  <a:srgbClr val="334155"/>
                </a:solidFill>
                <a:latin typeface="Arial"/>
              </a:defRPr>
            </a:pPr>
            <a:r>
              <a:t>Absorbs heat from storage chamber</a:t>
            </a:r>
          </a:p>
        </p:txBody>
      </p:sp>
      <p:sp>
        <p:nvSpPr>
          <p:cNvPr id="17453" name="Rounded Rectangle 17452"/>
          <p:cNvSpPr/>
          <p:nvPr/>
        </p:nvSpPr>
        <p:spPr>
          <a:xfrm>
            <a:off x="7269480" y="4187952"/>
            <a:ext cx="1280160" cy="182880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680" b="1">
                <a:solidFill>
                  <a:srgbClr val="6D28D9"/>
                </a:solidFill>
                <a:latin typeface="Segoe UI"/>
              </a:defRPr>
            </a:pPr>
            <a:r>
              <a:t>PELTIER MODULE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8595360" y="4187952"/>
            <a:ext cx="2926080" cy="18288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defRPr sz="680">
                <a:solidFill>
                  <a:srgbClr val="334155"/>
                </a:solidFill>
                <a:latin typeface="Arial"/>
              </a:defRPr>
            </a:pPr>
            <a:r>
              <a:t>TEC solid-state heat pump transfer</a:t>
            </a:r>
          </a:p>
        </p:txBody>
      </p:sp>
      <p:sp>
        <p:nvSpPr>
          <p:cNvPr id="17455" name="Rounded Rectangle 17454"/>
          <p:cNvSpPr/>
          <p:nvPr/>
        </p:nvSpPr>
        <p:spPr>
          <a:xfrm>
            <a:off x="7269480" y="4398264"/>
            <a:ext cx="1280160" cy="182880"/>
          </a:xfrm>
          <a:prstGeom prst="round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680" b="1">
                <a:solidFill>
                  <a:srgbClr val="B91C1C"/>
                </a:solidFill>
                <a:latin typeface="Segoe UI"/>
              </a:defRPr>
            </a:pPr>
            <a:r>
              <a:t>HOT SIDE BASE</a:t>
            </a:r>
          </a:p>
        </p:txBody>
      </p:sp>
      <p:sp>
        <p:nvSpPr>
          <p:cNvPr id="17456" name="TextBox 17455"/>
          <p:cNvSpPr txBox="1"/>
          <p:nvPr/>
        </p:nvSpPr>
        <p:spPr>
          <a:xfrm>
            <a:off x="8595360" y="4398264"/>
            <a:ext cx="2926080" cy="18288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defRPr sz="680">
                <a:solidFill>
                  <a:srgbClr val="334155"/>
                </a:solidFill>
                <a:latin typeface="Arial"/>
              </a:defRPr>
            </a:pPr>
            <a:r>
              <a:t>Conducts rejected thermal energy</a:t>
            </a:r>
          </a:p>
        </p:txBody>
      </p:sp>
      <p:sp>
        <p:nvSpPr>
          <p:cNvPr id="17457" name="Rounded Rectangle 17456"/>
          <p:cNvSpPr/>
          <p:nvPr/>
        </p:nvSpPr>
        <p:spPr>
          <a:xfrm>
            <a:off x="7269480" y="4608576"/>
            <a:ext cx="1280160" cy="182880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680" b="1">
                <a:solidFill>
                  <a:srgbClr val="B45309"/>
                </a:solidFill>
                <a:latin typeface="Segoe UI"/>
              </a:defRPr>
            </a:pPr>
            <a:r>
              <a:t>HEATSINK + FAN</a:t>
            </a:r>
          </a:p>
        </p:txBody>
      </p:sp>
      <p:sp>
        <p:nvSpPr>
          <p:cNvPr id="17458" name="TextBox 17457"/>
          <p:cNvSpPr txBox="1"/>
          <p:nvPr/>
        </p:nvSpPr>
        <p:spPr>
          <a:xfrm>
            <a:off x="8595360" y="4608576"/>
            <a:ext cx="2926080" cy="18288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defRPr sz="680">
                <a:solidFill>
                  <a:srgbClr val="334155"/>
                </a:solidFill>
                <a:latin typeface="Arial"/>
              </a:defRPr>
            </a:pPr>
            <a:r>
              <a:t>Forced-air heat dissipation to outside</a:t>
            </a:r>
          </a:p>
        </p:txBody>
      </p:sp>
      <p:sp>
        <p:nvSpPr>
          <p:cNvPr id="17459" name="TextBox 17458"/>
          <p:cNvSpPr txBox="1"/>
          <p:nvPr/>
        </p:nvSpPr>
        <p:spPr>
          <a:xfrm>
            <a:off x="7223760" y="4956048"/>
            <a:ext cx="4389120" cy="86868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spcAft>
                <a:spcPts val="200"/>
              </a:spcAft>
              <a:defRPr sz="720">
                <a:solidFill>
                  <a:srgbClr val="334155"/>
                </a:solidFill>
                <a:latin typeface="Arial"/>
              </a:defRPr>
            </a:pPr>
            <a:r>
              <a:t>• Technical Principle: The Peltier module transfers heat via the thermoelectric Seebeck/Peltier effect rather than creating cold.</a:t>
            </a:r>
          </a:p>
          <a:p>
            <a:pPr>
              <a:spcAft>
                <a:spcPts val="200"/>
              </a:spcAft>
              <a:defRPr sz="720">
                <a:solidFill>
                  <a:srgbClr val="334155"/>
                </a:solidFill>
                <a:latin typeface="Arial"/>
              </a:defRPr>
            </a:pPr>
            <a:r>
              <a:t>• Thermal Isolation: Cold side actively absorbs heat from chamber; hot side rejects heat externally to ambient air via high-CFM exhaust — hot air is NEVER directed into the storage chamber.</a:t>
            </a:r>
          </a:p>
        </p:txBody>
      </p:sp>
      <p:sp>
        <p:nvSpPr>
          <p:cNvPr id="17460" name="Rounded Rectangle 17459"/>
          <p:cNvSpPr/>
          <p:nvPr/>
        </p:nvSpPr>
        <p:spPr>
          <a:xfrm>
            <a:off x="7223760" y="5833872"/>
            <a:ext cx="4389120" cy="237744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61" name="TextBox 17460"/>
          <p:cNvSpPr txBox="1"/>
          <p:nvPr/>
        </p:nvSpPr>
        <p:spPr>
          <a:xfrm>
            <a:off x="7269480" y="5852160"/>
            <a:ext cx="4297680" cy="201168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defRPr sz="650" b="1">
                <a:solidFill>
                  <a:srgbClr val="166534"/>
                </a:solidFill>
                <a:latin typeface="Segoe UI"/>
              </a:defRPr>
            </a:pPr>
            <a:r>
              <a:t>Commercial Note: For larger-capacity commercial variants, the refrigeration technology can be selected according to the required thermal load, while retaining the IoT/control architecture.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45920" y="73152"/>
            <a:ext cx="8046720" cy="438912"/>
          </a:xfrm>
        </p:spPr>
        <p:txBody>
          <a:bodyPr wrap="square"/>
          <a:lstStyle/>
          <a:p>
            <a:pPr algn="l" eaLnBrk="1" hangingPunct="1">
              <a:defRPr sz="2000" b="1">
                <a:solidFill>
                  <a:srgbClr val="0F172A"/>
                </a:solidFill>
                <a:latin typeface="Segoe UI"/>
              </a:defRPr>
            </a:pPr>
            <a: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00">
                <a:solidFill>
                  <a:srgbClr val="FFFFFF"/>
                </a:solidFill>
                <a:latin typeface="Arial"/>
              </a:defRPr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0040" y="109728"/>
            <a:ext cx="1188720" cy="59436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HarvestIQ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1645920" y="512064"/>
            <a:ext cx="8046720" cy="292608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Segoe UI"/>
              </a:defRPr>
            </a:pPr>
            <a:r>
              <a:t>Technical Viability, Operational Practicality, Economic Model &amp; Defensible Risk Mitigation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57200" y="1078992"/>
            <a:ext cx="36118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2" name="Rounded Rectangle 17411"/>
          <p:cNvSpPr/>
          <p:nvPr/>
        </p:nvSpPr>
        <p:spPr>
          <a:xfrm>
            <a:off x="594360" y="1152144"/>
            <a:ext cx="2194560" cy="219456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A. TECHNICAL FEASIBILITY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94360" y="1408176"/>
            <a:ext cx="3337560" cy="182880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spcAft>
                <a:spcPts val="200"/>
              </a:spcAft>
            </a:pPr>
            <a:r>
              <a:rPr sz="720" b="1">
                <a:solidFill>
                  <a:srgbClr val="0F172A"/>
                </a:solidFill>
                <a:latin typeface="Segoe UI"/>
              </a:rPr>
              <a:t>• COTS Availability: </a:t>
            </a:r>
            <a:r>
              <a:rPr sz="700">
                <a:solidFill>
                  <a:srgbClr val="334155"/>
                </a:solidFill>
                <a:latin typeface="Arial"/>
              </a:rPr>
              <a:t>Built entirely from commercially available off-the-shelf components (PV panels, battery, MCU, sensors).</a:t>
            </a:r>
          </a:p>
          <a:p>
            <a:pPr>
              <a:spcAft>
                <a:spcPts val="200"/>
              </a:spcAft>
            </a:pPr>
            <a:r>
              <a:rPr sz="720" b="1">
                <a:solidFill>
                  <a:srgbClr val="0F172A"/>
                </a:solidFill>
                <a:latin typeface="Segoe UI"/>
              </a:rPr>
              <a:t>• Proven Embedded Control: </a:t>
            </a:r>
            <a:r>
              <a:rPr sz="700">
                <a:solidFill>
                  <a:srgbClr val="334155"/>
                </a:solidFill>
                <a:latin typeface="Arial"/>
              </a:rPr>
              <a:t>ESP32 multi-sensor telemetry, FreeRTOS logic, and PWM switching are mature and field-proven.</a:t>
            </a:r>
          </a:p>
          <a:p>
            <a:pPr>
              <a:spcAft>
                <a:spcPts val="200"/>
              </a:spcAft>
            </a:pPr>
            <a:r>
              <a:rPr sz="720" b="1">
                <a:solidFill>
                  <a:srgbClr val="0F172A"/>
                </a:solidFill>
                <a:latin typeface="Segoe UI"/>
              </a:rPr>
              <a:t>• Established Solar Tech: </a:t>
            </a:r>
            <a:r>
              <a:rPr sz="700">
                <a:solidFill>
                  <a:srgbClr val="334155"/>
                </a:solidFill>
                <a:latin typeface="Arial"/>
              </a:rPr>
              <a:t>Monocrystalline PV + LiFePO4 chemistry provides dependable, safe off-grid energy storage.</a:t>
            </a:r>
          </a:p>
          <a:p>
            <a:pPr>
              <a:spcAft>
                <a:spcPts val="200"/>
              </a:spcAft>
            </a:pPr>
            <a:r>
              <a:rPr sz="720" b="1">
                <a:solidFill>
                  <a:srgbClr val="0F172A"/>
                </a:solidFill>
                <a:latin typeface="Segoe UI"/>
              </a:rPr>
              <a:t>• Thermoelectric Status: </a:t>
            </a:r>
            <a:r>
              <a:rPr sz="700">
                <a:solidFill>
                  <a:srgbClr val="334155"/>
                </a:solidFill>
                <a:latin typeface="Arial"/>
              </a:rPr>
              <a:t>Peltier cooling is being evaluated for the compact prototype through thermal characterization.</a:t>
            </a:r>
          </a:p>
          <a:p>
            <a:pPr>
              <a:spcAft>
                <a:spcPts val="200"/>
              </a:spcAft>
            </a:pPr>
            <a:r>
              <a:rPr sz="720" b="1">
                <a:solidFill>
                  <a:srgbClr val="0F172A"/>
                </a:solidFill>
                <a:latin typeface="Segoe UI"/>
              </a:rPr>
              <a:t>• Critical Thermal Factors: </a:t>
            </a:r>
            <a:r>
              <a:rPr sz="700">
                <a:solidFill>
                  <a:srgbClr val="334155"/>
                </a:solidFill>
                <a:latin typeface="Arial"/>
              </a:rPr>
              <a:t>High-density PUF insulation and efficient hot-side heat dissipation are primary design determinants.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206240" y="1078992"/>
            <a:ext cx="36118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5" name="Rounded Rectangle 17414"/>
          <p:cNvSpPr/>
          <p:nvPr/>
        </p:nvSpPr>
        <p:spPr>
          <a:xfrm>
            <a:off x="4343400" y="1152144"/>
            <a:ext cx="2286000" cy="219456"/>
          </a:xfrm>
          <a:prstGeom prst="round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B. OPERATIONAL FEASIBILITY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343400" y="1408176"/>
            <a:ext cx="3337560" cy="182880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spcAft>
                <a:spcPts val="200"/>
              </a:spcAft>
            </a:pPr>
            <a:r>
              <a:rPr sz="720" b="1">
                <a:solidFill>
                  <a:srgbClr val="166534"/>
                </a:solidFill>
                <a:latin typeface="Segoe UI"/>
              </a:rPr>
              <a:t>• Farmer-Centric UI: </a:t>
            </a:r>
            <a:r>
              <a:rPr sz="700">
                <a:solidFill>
                  <a:srgbClr val="334155"/>
                </a:solidFill>
                <a:latin typeface="Arial"/>
              </a:rPr>
              <a:t>Simple local indicators (LED/Buzzer) and intuitive multilingual mobile dashboard requiring zero tech training.</a:t>
            </a:r>
          </a:p>
          <a:p>
            <a:pPr>
              <a:spcAft>
                <a:spcPts val="200"/>
              </a:spcAft>
            </a:pPr>
            <a:r>
              <a:rPr sz="720" b="1">
                <a:solidFill>
                  <a:srgbClr val="166534"/>
                </a:solidFill>
                <a:latin typeface="Segoe UI"/>
              </a:rPr>
              <a:t>• Low Maintenance: </a:t>
            </a:r>
            <a:r>
              <a:rPr sz="700">
                <a:solidFill>
                  <a:srgbClr val="334155"/>
                </a:solidFill>
                <a:latin typeface="Arial"/>
              </a:rPr>
              <a:t>Solid-state thermoelectric module contains zero mechanical compressors, belts, or refrigerant piping to service.</a:t>
            </a:r>
          </a:p>
          <a:p>
            <a:pPr>
              <a:spcAft>
                <a:spcPts val="200"/>
              </a:spcAft>
            </a:pPr>
            <a:r>
              <a:rPr sz="720" b="1">
                <a:solidFill>
                  <a:srgbClr val="166534"/>
                </a:solidFill>
                <a:latin typeface="Segoe UI"/>
              </a:rPr>
              <a:t>• True Off-Grid Autonomy: </a:t>
            </a:r>
            <a:r>
              <a:rPr sz="700">
                <a:solidFill>
                  <a:srgbClr val="334155"/>
                </a:solidFill>
                <a:latin typeface="Arial"/>
              </a:rPr>
              <a:t>Direct solar daytime operation with LiFePO4 battery buffer sustains continuous 24-hr cooling.</a:t>
            </a:r>
          </a:p>
          <a:p>
            <a:pPr>
              <a:spcAft>
                <a:spcPts val="200"/>
              </a:spcAft>
            </a:pPr>
            <a:r>
              <a:rPr sz="720" b="1">
                <a:solidFill>
                  <a:srgbClr val="166534"/>
                </a:solidFill>
                <a:latin typeface="Segoe UI"/>
              </a:rPr>
              <a:t>• Automated Anomaly Alerts: </a:t>
            </a:r>
            <a:r>
              <a:rPr sz="700">
                <a:solidFill>
                  <a:srgbClr val="334155"/>
                </a:solidFill>
                <a:latin typeface="Arial"/>
              </a:rPr>
              <a:t>Real-time notifications for door-ajar, high temperature, or low battery level prevent produce loss.</a:t>
            </a:r>
          </a:p>
          <a:p>
            <a:pPr>
              <a:spcAft>
                <a:spcPts val="200"/>
              </a:spcAft>
            </a:pPr>
            <a:r>
              <a:rPr sz="720" b="1">
                <a:solidFill>
                  <a:srgbClr val="166534"/>
                </a:solidFill>
                <a:latin typeface="Segoe UI"/>
              </a:rPr>
              <a:t>• Deployment Flexibility: </a:t>
            </a:r>
            <a:r>
              <a:rPr sz="700">
                <a:solidFill>
                  <a:srgbClr val="334155"/>
                </a:solidFill>
                <a:latin typeface="Arial"/>
              </a:rPr>
              <a:t>Designed for individual farm-gate placement or shared Farmer Producer Organization (FPO) hubs.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8001000" y="1078992"/>
            <a:ext cx="3749039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8" name="Rounded Rectangle 17417"/>
          <p:cNvSpPr/>
          <p:nvPr/>
        </p:nvSpPr>
        <p:spPr>
          <a:xfrm>
            <a:off x="8138160" y="1152144"/>
            <a:ext cx="2377440" cy="219456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C. ECONOMIC &amp; COST MODEL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8138160" y="1408176"/>
            <a:ext cx="3474720" cy="50292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0" name="TextBox 17419"/>
          <p:cNvSpPr txBox="1"/>
          <p:nvPr/>
        </p:nvSpPr>
        <p:spPr>
          <a:xfrm>
            <a:off x="8229600" y="1426464"/>
            <a:ext cx="3291840" cy="45720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ctr">
              <a:defRPr sz="950" b="1">
                <a:solidFill>
                  <a:srgbClr val="B45309"/>
                </a:solidFill>
                <a:latin typeface="Segoe UI"/>
              </a:defRPr>
            </a:pPr>
            <a:r>
              <a:t>ESTIMATED PROTOTYPE COST: ₹25,000</a:t>
            </a:r>
          </a:p>
          <a:p>
            <a:pPr algn="ctr">
              <a:defRPr sz="680">
                <a:solidFill>
                  <a:srgbClr val="0F172A"/>
                </a:solidFill>
                <a:latin typeface="Arial"/>
              </a:defRPr>
            </a:pPr>
            <a:r>
              <a:t>Targeted low-cost prototype architecture; commercial pricing requires field validation and production costing.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8138160" y="1956816"/>
            <a:ext cx="3474720" cy="128016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spcAft>
                <a:spcPts val="100"/>
              </a:spcAft>
            </a:pPr>
            <a:r>
              <a:rPr sz="680" b="1">
                <a:solidFill>
                  <a:srgbClr val="0F172A"/>
                </a:solidFill>
                <a:latin typeface="Segoe UI"/>
              </a:rPr>
              <a:t>• Energy Subsystem (~48%): </a:t>
            </a:r>
            <a:r>
              <a:rPr sz="680">
                <a:solidFill>
                  <a:srgbClr val="334155"/>
                </a:solidFill>
                <a:latin typeface="Arial"/>
              </a:rPr>
              <a:t>100W Solar PV + MPPT + 12V LiFePO4 battery pack.</a:t>
            </a:r>
          </a:p>
          <a:p>
            <a:pPr>
              <a:spcAft>
                <a:spcPts val="100"/>
              </a:spcAft>
            </a:pPr>
            <a:r>
              <a:rPr sz="680" b="1">
                <a:solidFill>
                  <a:srgbClr val="0F172A"/>
                </a:solidFill>
                <a:latin typeface="Segoe UI"/>
              </a:rPr>
              <a:t>• Enclosure &amp; PUF (~20%): </a:t>
            </a:r>
            <a:r>
              <a:rPr sz="680">
                <a:solidFill>
                  <a:srgbClr val="334155"/>
                </a:solidFill>
                <a:latin typeface="Arial"/>
              </a:rPr>
              <a:t>Insulated 20–40L box, seals, and aluminum cold-plate.</a:t>
            </a:r>
          </a:p>
          <a:p>
            <a:pPr>
              <a:spcAft>
                <a:spcPts val="100"/>
              </a:spcAft>
            </a:pPr>
            <a:r>
              <a:rPr sz="680" b="1">
                <a:solidFill>
                  <a:srgbClr val="0F172A"/>
                </a:solidFill>
                <a:latin typeface="Segoe UI"/>
              </a:rPr>
              <a:t>• Control &amp; Sensors (~10%): </a:t>
            </a:r>
            <a:r>
              <a:rPr sz="680">
                <a:solidFill>
                  <a:srgbClr val="334155"/>
                </a:solidFill>
                <a:latin typeface="Arial"/>
              </a:rPr>
              <a:t>ESP32 MCU, DS18B20, SHT31, INA219, and wiring.</a:t>
            </a:r>
          </a:p>
          <a:p>
            <a:pPr>
              <a:spcAft>
                <a:spcPts val="100"/>
              </a:spcAft>
            </a:pPr>
            <a:r>
              <a:rPr sz="680" b="1">
                <a:solidFill>
                  <a:srgbClr val="0F172A"/>
                </a:solidFill>
                <a:latin typeface="Segoe UI"/>
              </a:rPr>
              <a:t>• Peltier Cooling Kit (~8%): </a:t>
            </a:r>
            <a:r>
              <a:rPr sz="680">
                <a:solidFill>
                  <a:srgbClr val="334155"/>
                </a:solidFill>
                <a:latin typeface="Arial"/>
              </a:rPr>
              <a:t>TEC1-12706 module, extruded heatsink, and dual fans.</a:t>
            </a:r>
          </a:p>
          <a:p>
            <a:pPr>
              <a:spcAft>
                <a:spcPts val="100"/>
              </a:spcAft>
            </a:pPr>
            <a:r>
              <a:rPr sz="680" b="1">
                <a:solidFill>
                  <a:srgbClr val="0F172A"/>
                </a:solidFill>
                <a:latin typeface="Segoe UI"/>
              </a:rPr>
              <a:t>• Assembly &amp; Spares (~14%): </a:t>
            </a:r>
            <a:r>
              <a:rPr sz="680">
                <a:solidFill>
                  <a:srgbClr val="334155"/>
                </a:solidFill>
                <a:latin typeface="Arial"/>
              </a:rPr>
              <a:t>Connectors, protective enclosure, and hardware.</a:t>
            </a:r>
          </a:p>
          <a:p>
            <a:pPr>
              <a:spcAft>
                <a:spcPts val="100"/>
              </a:spcAft>
            </a:pPr>
            <a:r>
              <a:rPr sz="680" b="1">
                <a:solidFill>
                  <a:srgbClr val="0284C7"/>
                </a:solidFill>
                <a:latin typeface="Segoe UI"/>
              </a:rPr>
              <a:t>• Commercial Outlook: </a:t>
            </a:r>
            <a:r>
              <a:rPr sz="680">
                <a:solidFill>
                  <a:srgbClr val="334155"/>
                </a:solidFill>
                <a:latin typeface="Arial"/>
              </a:rPr>
              <a:t>Commercial production cost to be determined after pilot-scale engineering and bulk sourcing.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457200" y="3401568"/>
            <a:ext cx="630936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3" name="Rounded Rectangle 17422"/>
          <p:cNvSpPr/>
          <p:nvPr/>
        </p:nvSpPr>
        <p:spPr>
          <a:xfrm>
            <a:off x="594360" y="3474720"/>
            <a:ext cx="2560320" cy="219456"/>
          </a:xfrm>
          <a:prstGeom prst="round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D. RISKS &amp; ENGINEERING MITIGATION MATRIX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594360" y="3730752"/>
            <a:ext cx="6035040" cy="233172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spcAft>
                <a:spcPts val="200"/>
              </a:spcAft>
            </a:pPr>
            <a:r>
              <a:rPr sz="700" b="1">
                <a:solidFill>
                  <a:srgbClr val="B91C1C"/>
                </a:solidFill>
                <a:latin typeface="Segoe UI"/>
              </a:rPr>
              <a:t>1. High Ambient Heat &amp; Peltier Efficiency Drop: </a:t>
            </a:r>
            <a:r>
              <a:rPr sz="680">
                <a:solidFill>
                  <a:srgbClr val="64748B"/>
                </a:solidFill>
                <a:latin typeface="Arial"/>
              </a:rPr>
              <a:t>Peltier cooling performance decreases as ambient temperature and hot-side temperature increase. — </a:t>
            </a:r>
            <a:r>
              <a:rPr sz="680" b="1">
                <a:solidFill>
                  <a:srgbClr val="166534"/>
                </a:solidFill>
                <a:latin typeface="Segoe UI"/>
              </a:rPr>
              <a:t>✔ Mitigation: High-density multi-layer PUF insulation + oversized extruded heatsink with high-CFM external exhaust fan.</a:t>
            </a:r>
          </a:p>
          <a:p>
            <a:pPr>
              <a:spcAft>
                <a:spcPts val="200"/>
              </a:spcAft>
            </a:pPr>
            <a:r>
              <a:rPr sz="700" b="1">
                <a:solidFill>
                  <a:srgbClr val="B91C1C"/>
                </a:solidFill>
                <a:latin typeface="Segoe UI"/>
              </a:rPr>
              <a:t>2. Battery Degradation over 3–5 Years in Rural Conditions: </a:t>
            </a:r>
            <a:r>
              <a:rPr sz="680">
                <a:solidFill>
                  <a:srgbClr val="64748B"/>
                </a:solidFill>
                <a:latin typeface="Arial"/>
              </a:rPr>
              <a:t>Frequent deep discharge cycles degrade standard lead-acid batteries. — </a:t>
            </a:r>
            <a:r>
              <a:rPr sz="680" b="1">
                <a:solidFill>
                  <a:srgbClr val="166534"/>
                </a:solidFill>
                <a:latin typeface="Segoe UI"/>
              </a:rPr>
              <a:t>✔ Mitigation: High-cycle LiFePO4 chemistry (2000+ cycles) with integrated BMS low-voltage cutoffs.</a:t>
            </a:r>
          </a:p>
          <a:p>
            <a:pPr>
              <a:spcAft>
                <a:spcPts val="200"/>
              </a:spcAft>
            </a:pPr>
            <a:r>
              <a:rPr sz="700" b="1">
                <a:solidFill>
                  <a:srgbClr val="B91C1C"/>
                </a:solidFill>
                <a:latin typeface="Segoe UI"/>
              </a:rPr>
              <a:t>3. Sensor Calibration Drift in High Field Humidity: </a:t>
            </a:r>
            <a:r>
              <a:rPr sz="680">
                <a:solidFill>
                  <a:srgbClr val="64748B"/>
                </a:solidFill>
                <a:latin typeface="Arial"/>
              </a:rPr>
              <a:t>Moisture in NER climate can corrode exposed electronic sensors. — </a:t>
            </a:r>
            <a:r>
              <a:rPr sz="680" b="1">
                <a:solidFill>
                  <a:srgbClr val="166534"/>
                </a:solidFill>
                <a:latin typeface="Segoe UI"/>
              </a:rPr>
              <a:t>✔ Mitigation: Sealed IP67 waterproof DS18B20 stainless temperature probes + conformal coating on PCB.</a:t>
            </a:r>
          </a:p>
          <a:p>
            <a:pPr>
              <a:spcAft>
                <a:spcPts val="200"/>
              </a:spcAft>
            </a:pPr>
            <a:r>
              <a:rPr sz="700" b="1">
                <a:solidFill>
                  <a:srgbClr val="B91C1C"/>
                </a:solidFill>
                <a:latin typeface="Segoe UI"/>
              </a:rPr>
              <a:t>4. Seasonal Monsoon / Cloudy Solar Variations: </a:t>
            </a:r>
            <a:r>
              <a:rPr sz="680">
                <a:solidFill>
                  <a:srgbClr val="64748B"/>
                </a:solidFill>
                <a:latin typeface="Arial"/>
              </a:rPr>
              <a:t>Extended cloud cover reduces daily solar energy harvesting. — </a:t>
            </a:r>
            <a:r>
              <a:rPr sz="680" b="1">
                <a:solidFill>
                  <a:srgbClr val="166534"/>
                </a:solidFill>
                <a:latin typeface="Segoe UI"/>
              </a:rPr>
              <a:t>✔ Mitigation: Sized LiFePO4 energy reserve + adaptive energy-aware cooling logic with dynamic hysteresis.</a:t>
            </a:r>
          </a:p>
          <a:p>
            <a:pPr>
              <a:spcAft>
                <a:spcPts val="200"/>
              </a:spcAft>
            </a:pPr>
            <a:r>
              <a:rPr sz="700" b="1">
                <a:solidFill>
                  <a:srgbClr val="B91C1C"/>
                </a:solidFill>
                <a:latin typeface="Segoe UI"/>
              </a:rPr>
              <a:t>5. Thermal Shock from Fresh Warm Produce: </a:t>
            </a:r>
            <a:r>
              <a:rPr sz="680">
                <a:solidFill>
                  <a:srgbClr val="64748B"/>
                </a:solidFill>
                <a:latin typeface="Arial"/>
              </a:rPr>
              <a:t>Loading field-hot vegetables creates a sudden thermal spike. — </a:t>
            </a:r>
            <a:r>
              <a:rPr sz="680" b="1">
                <a:solidFill>
                  <a:srgbClr val="166534"/>
                </a:solidFill>
                <a:latin typeface="Segoe UI"/>
              </a:rPr>
              <a:t>✔ Mitigation: Internal circulation pre-cooling and staggered batch-loading guidelines for farmers.</a:t>
            </a:r>
          </a:p>
          <a:p>
            <a:pPr>
              <a:spcAft>
                <a:spcPts val="200"/>
              </a:spcAft>
            </a:pPr>
            <a:r>
              <a:rPr sz="700" b="1">
                <a:solidFill>
                  <a:srgbClr val="B91C1C"/>
                </a:solidFill>
                <a:latin typeface="Segoe UI"/>
              </a:rPr>
              <a:t>6. Farmer Digital Literacy &amp; Adoption Resistance: </a:t>
            </a:r>
            <a:r>
              <a:rPr sz="680">
                <a:solidFill>
                  <a:srgbClr val="64748B"/>
                </a:solidFill>
                <a:latin typeface="Arial"/>
              </a:rPr>
              <a:t>Smallholders may hesitate to use complex smartphone applications. — </a:t>
            </a:r>
            <a:r>
              <a:rPr sz="680" b="1">
                <a:solidFill>
                  <a:srgbClr val="166534"/>
                </a:solidFill>
                <a:latin typeface="Segoe UI"/>
              </a:rPr>
              <a:t>✔ Mitigation: Autonomous local edge control (cooling operates without app) + simple multilingual voice/LED alerts.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6949440" y="3401568"/>
            <a:ext cx="480060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6" name="Rounded Rectangle 17425"/>
          <p:cNvSpPr/>
          <p:nvPr/>
        </p:nvSpPr>
        <p:spPr>
          <a:xfrm>
            <a:off x="7086600" y="3474720"/>
            <a:ext cx="2926080" cy="219456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EMPIRICAL VALIDATION FRAMEWORK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7086600" y="3730752"/>
            <a:ext cx="4526280" cy="10058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8" name="TextBox 17427"/>
          <p:cNvSpPr txBox="1"/>
          <p:nvPr/>
        </p:nvSpPr>
        <p:spPr>
          <a:xfrm>
            <a:off x="7178040" y="3749039"/>
            <a:ext cx="4343400" cy="932688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spcAft>
                <a:spcPts val="100"/>
              </a:spcAft>
              <a:defRPr sz="750" b="1">
                <a:solidFill>
                  <a:srgbClr val="166534"/>
                </a:solidFill>
                <a:latin typeface="Segoe UI"/>
              </a:defRPr>
            </a:pPr>
            <a:r>
              <a:t>CURRENTLY DEMONSTRATED (Prototype Architecture):</a:t>
            </a:r>
          </a:p>
          <a:p>
            <a:pPr>
              <a:defRPr sz="680">
                <a:solidFill>
                  <a:srgbClr val="0F172A"/>
                </a:solidFill>
                <a:latin typeface="Arial"/>
              </a:defRPr>
            </a:pPr>
            <a:r>
              <a:t>✔ End-to-end solar PV, MPPT, battery, and DC power bus integration.</a:t>
            </a:r>
          </a:p>
          <a:p>
            <a:pPr>
              <a:defRPr sz="680">
                <a:solidFill>
                  <a:srgbClr val="0F172A"/>
                </a:solidFill>
                <a:latin typeface="Arial"/>
              </a:defRPr>
            </a:pPr>
            <a:r>
              <a:t>✔ ESP32 multi-sensor telemetry (temperature, humidity, door, power).</a:t>
            </a:r>
          </a:p>
          <a:p>
            <a:pPr>
              <a:defRPr sz="680">
                <a:solidFill>
                  <a:srgbClr val="0F172A"/>
                </a:solidFill>
                <a:latin typeface="Arial"/>
              </a:defRPr>
            </a:pPr>
            <a:r>
              <a:t>✔ Automated closed-loop hysteresis cooling control logic &amp; low-voltage protection.</a:t>
            </a:r>
          </a:p>
          <a:p>
            <a:pPr>
              <a:defRPr sz="680">
                <a:solidFill>
                  <a:srgbClr val="0F172A"/>
                </a:solidFill>
                <a:latin typeface="Arial"/>
              </a:defRPr>
            </a:pPr>
            <a:r>
              <a:t>✔ Live web IoT dashboard demonstration with real-time alert dispatch.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7086600" y="4809744"/>
            <a:ext cx="4526280" cy="1243584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30" name="TextBox 17429"/>
          <p:cNvSpPr txBox="1"/>
          <p:nvPr/>
        </p:nvSpPr>
        <p:spPr>
          <a:xfrm>
            <a:off x="7178040" y="4828032"/>
            <a:ext cx="4343400" cy="1170432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spcAft>
                <a:spcPts val="100"/>
              </a:spcAft>
              <a:defRPr sz="750" b="1">
                <a:solidFill>
                  <a:srgbClr val="0284C7"/>
                </a:solidFill>
                <a:latin typeface="Segoe UI"/>
              </a:defRPr>
            </a:pPr>
            <a:r>
              <a:t>PLANNED LAB &amp; FIELD VALIDATION STEPS:</a:t>
            </a:r>
          </a:p>
          <a:p>
            <a:pPr>
              <a:defRPr sz="680">
                <a:solidFill>
                  <a:srgbClr val="334155"/>
                </a:solidFill>
                <a:latin typeface="Arial"/>
              </a:defRPr>
            </a:pPr>
            <a:r>
              <a:t>• Chamber pull-down time from ambient to target setpoint (4–8°C).</a:t>
            </a:r>
          </a:p>
          <a:p>
            <a:pPr>
              <a:defRPr sz="680">
                <a:solidFill>
                  <a:srgbClr val="334155"/>
                </a:solidFill>
                <a:latin typeface="Arial"/>
              </a:defRPr>
            </a:pPr>
            <a:r>
              <a:t>• Steady-state temperature maintenance &amp; recovery after door openings.</a:t>
            </a:r>
          </a:p>
          <a:p>
            <a:pPr>
              <a:defRPr sz="680">
                <a:solidFill>
                  <a:srgbClr val="334155"/>
                </a:solidFill>
                <a:latin typeface="Arial"/>
              </a:defRPr>
            </a:pPr>
            <a:r>
              <a:t>• Internal relative humidity stability (85–95% RH) for leafy vegetables.</a:t>
            </a:r>
          </a:p>
          <a:p>
            <a:pPr>
              <a:defRPr sz="680">
                <a:solidFill>
                  <a:srgbClr val="334155"/>
                </a:solidFill>
                <a:latin typeface="Arial"/>
              </a:defRPr>
            </a:pPr>
            <a:r>
              <a:t>• 24-hr watt-hour energy consumption &amp; LiFePO4 battery autonomy duration.</a:t>
            </a:r>
          </a:p>
          <a:p>
            <a:pPr>
              <a:defRPr sz="680">
                <a:solidFill>
                  <a:srgbClr val="334155"/>
                </a:solidFill>
                <a:latin typeface="Arial"/>
              </a:defRPr>
            </a:pPr>
            <a:r>
              <a:t>• Cooling performance under varying ambient temperatures (25°C to 40°C).</a:t>
            </a:r>
          </a:p>
          <a:p>
            <a:pPr>
              <a:defRPr sz="680">
                <a:solidFill>
                  <a:srgbClr val="334155"/>
                </a:solidFill>
                <a:latin typeface="Arial"/>
              </a:defRPr>
            </a:pPr>
            <a:r>
              <a:t>• Shelf-life extension and produce weight retention across vegetable varieties.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45920" y="73152"/>
            <a:ext cx="8046720" cy="438912"/>
          </a:xfrm>
        </p:spPr>
        <p:txBody>
          <a:bodyPr wrap="square"/>
          <a:lstStyle/>
          <a:p>
            <a:pPr algn="l" eaLnBrk="1" hangingPunct="1">
              <a:defRPr sz="2000" b="1">
                <a:solidFill>
                  <a:srgbClr val="0F172A"/>
                </a:solidFill>
                <a:latin typeface="Segoe UI"/>
              </a:defRPr>
            </a:pPr>
            <a: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00">
                <a:solidFill>
                  <a:srgbClr val="FFFFFF"/>
                </a:solidFill>
                <a:latin typeface="Arial"/>
              </a:defRPr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0040" y="109728"/>
            <a:ext cx="1188720" cy="59436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HarvestIQ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1645920" y="512064"/>
            <a:ext cx="8046720" cy="292608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Segoe UI"/>
              </a:defRPr>
            </a:pPr>
            <a:r>
              <a:t>Socio-Economic Value Creation, Post-Harvest Preservation &amp; Sustainable Micro-Cold-Chain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57200" y="1078992"/>
            <a:ext cx="112928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2" name="Rounded Rectangle 17411"/>
          <p:cNvSpPr/>
          <p:nvPr/>
        </p:nvSpPr>
        <p:spPr>
          <a:xfrm>
            <a:off x="594360" y="1133856"/>
            <a:ext cx="2560320" cy="201168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50" b="1">
                <a:solidFill>
                  <a:srgbClr val="FFFFFF"/>
                </a:solidFill>
                <a:latin typeface="Segoe UI"/>
              </a:defRPr>
            </a:pPr>
            <a:r>
              <a:t>FARM-TO-MARKET VALUE JOURNEY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594360" y="1389888"/>
            <a:ext cx="1783080" cy="621792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50" b="1">
                <a:solidFill>
                  <a:srgbClr val="166534"/>
                </a:solidFill>
                <a:latin typeface="Segoe UI"/>
              </a:defRPr>
            </a:pPr>
            <a:r>
              <a:t>1. FARM HARVEST</a:t>
            </a:r>
            <a:br/>
            <a:r>
              <a:t>Picked at peak freshness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2404872" y="1572768"/>
            <a:ext cx="219456" cy="23774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900" b="1">
                <a:solidFill>
                  <a:srgbClr val="166534"/>
                </a:solidFill>
                <a:latin typeface="Segoe UI"/>
              </a:defRPr>
            </a:pPr>
            <a:r>
              <a:t>➔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2834640" y="1389888"/>
            <a:ext cx="1783080" cy="621792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50" b="1">
                <a:solidFill>
                  <a:srgbClr val="166534"/>
                </a:solidFill>
                <a:latin typeface="Segoe UI"/>
              </a:defRPr>
            </a:pPr>
            <a:r>
              <a:t>2. HARVESTIQ STORAGE</a:t>
            </a:r>
            <a:br/>
            <a:r>
              <a:t>Immediate pre-cooling buffer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4645152" y="1572768"/>
            <a:ext cx="219456" cy="23774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900" b="1">
                <a:solidFill>
                  <a:srgbClr val="166534"/>
                </a:solidFill>
                <a:latin typeface="Segoe UI"/>
              </a:defRPr>
            </a:pPr>
            <a:r>
              <a:t>➔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5074920" y="1389888"/>
            <a:ext cx="1783080" cy="621792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50" b="1">
                <a:solidFill>
                  <a:srgbClr val="166534"/>
                </a:solidFill>
                <a:latin typeface="Segoe UI"/>
              </a:defRPr>
            </a:pPr>
            <a:r>
              <a:t>3. PRESERVED QUALITY</a:t>
            </a:r>
            <a:br/>
            <a:r>
              <a:t>Moisture &amp; freshness held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6885432" y="1572768"/>
            <a:ext cx="219456" cy="23774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900" b="1">
                <a:solidFill>
                  <a:srgbClr val="166534"/>
                </a:solidFill>
                <a:latin typeface="Segoe UI"/>
              </a:defRPr>
            </a:pPr>
            <a:r>
              <a:t>➔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7315200" y="1389888"/>
            <a:ext cx="1783080" cy="621792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50" b="1">
                <a:solidFill>
                  <a:srgbClr val="166534"/>
                </a:solidFill>
                <a:latin typeface="Segoe UI"/>
              </a:defRPr>
            </a:pPr>
            <a:r>
              <a:t>4. MARKET TIMING</a:t>
            </a:r>
            <a:br/>
            <a:r>
              <a:t>Avoid distress sales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9125712" y="1572768"/>
            <a:ext cx="219456" cy="23774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900" b="1">
                <a:solidFill>
                  <a:srgbClr val="166534"/>
                </a:solidFill>
                <a:latin typeface="Segoe UI"/>
              </a:defRPr>
            </a:pPr>
            <a:r>
              <a:t>➔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9555480" y="1389888"/>
            <a:ext cx="1783080" cy="621792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50" b="1">
                <a:solidFill>
                  <a:srgbClr val="166534"/>
                </a:solidFill>
                <a:latin typeface="Segoe UI"/>
              </a:defRPr>
            </a:pPr>
            <a:r>
              <a:t>5. VALUE CREATION</a:t>
            </a:r>
            <a:br/>
            <a:r>
              <a:t>Higher net farmer profit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457200" y="2212848"/>
            <a:ext cx="112928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3" name="Rounded Rectangle 17422"/>
          <p:cNvSpPr/>
          <p:nvPr/>
        </p:nvSpPr>
        <p:spPr>
          <a:xfrm>
            <a:off x="594360" y="2267712"/>
            <a:ext cx="2743200" cy="201168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50" b="1">
                <a:solidFill>
                  <a:srgbClr val="FFFFFF"/>
                </a:solidFill>
                <a:latin typeface="Segoe UI"/>
              </a:defRPr>
            </a:pPr>
            <a:r>
              <a:t>FIVE PILLARS OF MEASURABLE VALUE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594360" y="2523744"/>
            <a:ext cx="2057400" cy="162763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5" name="TextBox 17424"/>
          <p:cNvSpPr txBox="1"/>
          <p:nvPr/>
        </p:nvSpPr>
        <p:spPr>
          <a:xfrm>
            <a:off x="667512" y="2560320"/>
            <a:ext cx="1911095" cy="1536192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0284C7"/>
                </a:solidFill>
                <a:latin typeface="Segoe UI"/>
              </a:defRPr>
            </a:pPr>
            <a:r>
              <a:t>FARMER EMPOWERMENT</a:t>
            </a:r>
          </a:p>
          <a:p>
            <a:pPr>
              <a:spcAft>
                <a:spcPts val="200"/>
              </a:spcAft>
              <a:defRPr sz="700">
                <a:solidFill>
                  <a:srgbClr val="0F172A"/>
                </a:solidFill>
                <a:latin typeface="Arial"/>
              </a:defRPr>
            </a:pPr>
            <a:r>
              <a:t>• Greater autonomy over harvest buffer storage.</a:t>
            </a:r>
          </a:p>
          <a:p>
            <a:pPr>
              <a:spcAft>
                <a:spcPts val="200"/>
              </a:spcAft>
              <a:defRPr sz="700">
                <a:solidFill>
                  <a:srgbClr val="0F172A"/>
                </a:solidFill>
                <a:latin typeface="Arial"/>
              </a:defRPr>
            </a:pPr>
            <a:r>
              <a:t>• Reduced dependence on immediate distress sales.</a:t>
            </a:r>
          </a:p>
          <a:p>
            <a:pPr>
              <a:spcAft>
                <a:spcPts val="200"/>
              </a:spcAft>
              <a:defRPr sz="700">
                <a:solidFill>
                  <a:srgbClr val="0F172A"/>
                </a:solidFill>
                <a:latin typeface="Arial"/>
              </a:defRPr>
            </a:pPr>
            <a:r>
              <a:t>• Enhanced bargaining power with traders.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2834640" y="2523744"/>
            <a:ext cx="2057400" cy="1627632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7" name="TextBox 17426"/>
          <p:cNvSpPr txBox="1"/>
          <p:nvPr/>
        </p:nvSpPr>
        <p:spPr>
          <a:xfrm>
            <a:off x="2907792" y="2560320"/>
            <a:ext cx="1911095" cy="1536192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166534"/>
                </a:solidFill>
                <a:latin typeface="Segoe UI"/>
              </a:defRPr>
            </a:pPr>
            <a:r>
              <a:rPr dirty="0"/>
              <a:t>ECONOMIC VALUE</a:t>
            </a:r>
          </a:p>
          <a:p>
            <a:pPr>
              <a:spcAft>
                <a:spcPts val="200"/>
              </a:spcAft>
              <a:defRPr sz="700">
                <a:solidFill>
                  <a:srgbClr val="0F172A"/>
                </a:solidFill>
                <a:latin typeface="Arial"/>
              </a:defRPr>
            </a:pPr>
            <a:r>
              <a:rPr dirty="0"/>
              <a:t>• Potential reduction in post-harvest physical loss.</a:t>
            </a:r>
          </a:p>
          <a:p>
            <a:pPr>
              <a:spcAft>
                <a:spcPts val="200"/>
              </a:spcAft>
              <a:defRPr sz="700">
                <a:solidFill>
                  <a:srgbClr val="0F172A"/>
                </a:solidFill>
                <a:latin typeface="Arial"/>
              </a:defRPr>
            </a:pPr>
            <a:r>
              <a:rPr dirty="0"/>
              <a:t>• Opportunity to time sales for peak market rates.</a:t>
            </a:r>
          </a:p>
          <a:p>
            <a:pPr>
              <a:spcAft>
                <a:spcPts val="200"/>
              </a:spcAft>
              <a:defRPr sz="700">
                <a:solidFill>
                  <a:srgbClr val="0F172A"/>
                </a:solidFill>
                <a:latin typeface="Arial"/>
              </a:defRPr>
            </a:pPr>
            <a:r>
              <a:rPr dirty="0"/>
              <a:t>• Accessible modular micro-capex model.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5074920" y="2523744"/>
            <a:ext cx="2057400" cy="1627632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9" name="TextBox 17428"/>
          <p:cNvSpPr txBox="1"/>
          <p:nvPr/>
        </p:nvSpPr>
        <p:spPr>
          <a:xfrm>
            <a:off x="5148072" y="2560320"/>
            <a:ext cx="1911095" cy="1536192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B45309"/>
                </a:solidFill>
                <a:latin typeface="Segoe UI"/>
              </a:defRPr>
            </a:pPr>
            <a:r>
              <a:t>RURAL ACCESSIBILITY</a:t>
            </a:r>
          </a:p>
          <a:p>
            <a:pPr>
              <a:spcAft>
                <a:spcPts val="200"/>
              </a:spcAft>
              <a:defRPr sz="700">
                <a:solidFill>
                  <a:srgbClr val="0F172A"/>
                </a:solidFill>
                <a:latin typeface="Arial"/>
              </a:defRPr>
            </a:pPr>
            <a:r>
              <a:t>• Designed for remote, hilly NER geographies.</a:t>
            </a:r>
          </a:p>
          <a:p>
            <a:pPr>
              <a:spcAft>
                <a:spcPts val="200"/>
              </a:spcAft>
              <a:defRPr sz="700">
                <a:solidFill>
                  <a:srgbClr val="0F172A"/>
                </a:solidFill>
                <a:latin typeface="Arial"/>
              </a:defRPr>
            </a:pPr>
            <a:r>
              <a:t>• 100% off-grid; zero rural grid dependence.</a:t>
            </a:r>
          </a:p>
          <a:p>
            <a:pPr>
              <a:spcAft>
                <a:spcPts val="200"/>
              </a:spcAft>
              <a:defRPr sz="700">
                <a:solidFill>
                  <a:srgbClr val="0F172A"/>
                </a:solidFill>
                <a:latin typeface="Arial"/>
              </a:defRPr>
            </a:pPr>
            <a:r>
              <a:t>• Simple multilingual interface for rural farmers.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7315200" y="2523744"/>
            <a:ext cx="2057400" cy="1627632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31" name="TextBox 17430"/>
          <p:cNvSpPr txBox="1"/>
          <p:nvPr/>
        </p:nvSpPr>
        <p:spPr>
          <a:xfrm>
            <a:off x="7388352" y="2560320"/>
            <a:ext cx="1911095" cy="1536192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D28D9"/>
                </a:solidFill>
                <a:latin typeface="Segoe UI"/>
              </a:defRPr>
            </a:pPr>
            <a:r>
              <a:t>SUSTAINABILITY</a:t>
            </a:r>
          </a:p>
          <a:p>
            <a:pPr>
              <a:spcAft>
                <a:spcPts val="200"/>
              </a:spcAft>
              <a:defRPr sz="700">
                <a:solidFill>
                  <a:srgbClr val="0F172A"/>
                </a:solidFill>
                <a:latin typeface="Arial"/>
              </a:defRPr>
            </a:pPr>
            <a:r>
              <a:t>• 100% solar powered; zero operational emissions.</a:t>
            </a:r>
          </a:p>
          <a:p>
            <a:pPr>
              <a:spcAft>
                <a:spcPts val="200"/>
              </a:spcAft>
              <a:defRPr sz="700">
                <a:solidFill>
                  <a:srgbClr val="0F172A"/>
                </a:solidFill>
                <a:latin typeface="Arial"/>
              </a:defRPr>
            </a:pPr>
            <a:r>
              <a:t>• No chemical refrigerants (CFC/HFC) in prototype.</a:t>
            </a:r>
          </a:p>
          <a:p>
            <a:pPr>
              <a:spcAft>
                <a:spcPts val="200"/>
              </a:spcAft>
              <a:defRPr sz="700">
                <a:solidFill>
                  <a:srgbClr val="0F172A"/>
                </a:solidFill>
                <a:latin typeface="Arial"/>
              </a:defRPr>
            </a:pPr>
            <a:r>
              <a:t>• Reduces food waste, saving water &amp; resources.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9555480" y="2523744"/>
            <a:ext cx="2057400" cy="162763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33" name="TextBox 17432"/>
          <p:cNvSpPr txBox="1"/>
          <p:nvPr/>
        </p:nvSpPr>
        <p:spPr>
          <a:xfrm>
            <a:off x="9628632" y="2560320"/>
            <a:ext cx="1911095" cy="1536192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0070C0"/>
                </a:solidFill>
                <a:latin typeface="Segoe UI"/>
              </a:defRPr>
            </a:pPr>
            <a:r>
              <a:t>DATA &amp; VISIBILITY</a:t>
            </a:r>
          </a:p>
          <a:p>
            <a:pPr>
              <a:spcAft>
                <a:spcPts val="200"/>
              </a:spcAft>
              <a:defRPr sz="700">
                <a:solidFill>
                  <a:srgbClr val="0F172A"/>
                </a:solidFill>
                <a:latin typeface="Arial"/>
              </a:defRPr>
            </a:pPr>
            <a:r>
              <a:t>• Real-time multi-parameter telemetry &amp; logging.</a:t>
            </a:r>
          </a:p>
          <a:p>
            <a:pPr>
              <a:spcAft>
                <a:spcPts val="200"/>
              </a:spcAft>
              <a:defRPr sz="700">
                <a:solidFill>
                  <a:srgbClr val="0F172A"/>
                </a:solidFill>
                <a:latin typeface="Arial"/>
              </a:defRPr>
            </a:pPr>
            <a:r>
              <a:t>• Automated closed-loop edge thermal control.</a:t>
            </a:r>
          </a:p>
          <a:p>
            <a:pPr>
              <a:spcAft>
                <a:spcPts val="200"/>
              </a:spcAft>
              <a:defRPr sz="700">
                <a:solidFill>
                  <a:srgbClr val="0F172A"/>
                </a:solidFill>
                <a:latin typeface="Arial"/>
              </a:defRPr>
            </a:pPr>
            <a:r>
              <a:t>• Proactive mobile alerts for temperature &amp; door.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457200" y="4352544"/>
            <a:ext cx="653796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35" name="Rounded Rectangle 17434"/>
          <p:cNvSpPr/>
          <p:nvPr/>
        </p:nvSpPr>
        <p:spPr>
          <a:xfrm>
            <a:off x="594360" y="4407408"/>
            <a:ext cx="3840480" cy="201168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50" b="1">
                <a:solidFill>
                  <a:srgbClr val="FFFFFF"/>
                </a:solidFill>
                <a:latin typeface="Segoe UI"/>
              </a:defRPr>
            </a:pPr>
            <a:r>
              <a:rPr dirty="0"/>
              <a:t>MEASURE IN PILOT: TARGET VALIDATION METRICS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594360" y="4645152"/>
            <a:ext cx="6263640" cy="141732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spcAft>
                <a:spcPts val="200"/>
              </a:spcAft>
              <a:defRPr sz="700" b="1">
                <a:solidFill>
                  <a:srgbClr val="B91C1C"/>
                </a:solidFill>
                <a:latin typeface="Arial"/>
              </a:defRPr>
            </a:pPr>
            <a:r>
              <a:rPr dirty="0"/>
              <a:t>*Rigorous evidence-driven approach — establishing empirical benchmarks during field trials rather than unsupported claims:</a:t>
            </a:r>
          </a:p>
          <a:p>
            <a:pPr>
              <a:spcAft>
                <a:spcPts val="100"/>
              </a:spcAft>
            </a:pPr>
            <a:r>
              <a:rPr sz="680" b="1" dirty="0">
                <a:solidFill>
                  <a:srgbClr val="0F172A"/>
                </a:solidFill>
                <a:latin typeface="Segoe UI"/>
              </a:rPr>
              <a:t>• Pull-Down Time: </a:t>
            </a:r>
            <a:r>
              <a:rPr sz="680" dirty="0">
                <a:solidFill>
                  <a:srgbClr val="334155"/>
                </a:solidFill>
                <a:latin typeface="Arial"/>
              </a:rPr>
              <a:t>Hours required to achieve 4–8°C storage setpoint under rated crop thermal load.</a:t>
            </a:r>
          </a:p>
          <a:p>
            <a:pPr>
              <a:spcAft>
                <a:spcPts val="100"/>
              </a:spcAft>
            </a:pPr>
            <a:r>
              <a:rPr sz="680" b="1" dirty="0">
                <a:solidFill>
                  <a:srgbClr val="0F172A"/>
                </a:solidFill>
                <a:latin typeface="Segoe UI"/>
              </a:rPr>
              <a:t>• Temperature Stability: </a:t>
            </a:r>
            <a:r>
              <a:rPr sz="680" dirty="0">
                <a:solidFill>
                  <a:srgbClr val="334155"/>
                </a:solidFill>
                <a:latin typeface="Arial"/>
              </a:rPr>
              <a:t>Chamber thermal variation margin (±0.5°C) under fluctuating ambient temperatures.</a:t>
            </a:r>
          </a:p>
          <a:p>
            <a:pPr>
              <a:spcAft>
                <a:spcPts val="100"/>
              </a:spcAft>
            </a:pPr>
            <a:r>
              <a:rPr sz="680" b="1" dirty="0">
                <a:solidFill>
                  <a:srgbClr val="0F172A"/>
                </a:solidFill>
                <a:latin typeface="Segoe UI"/>
              </a:rPr>
              <a:t>• Energy Consumption: </a:t>
            </a:r>
            <a:r>
              <a:rPr sz="680" dirty="0">
                <a:solidFill>
                  <a:srgbClr val="334155"/>
                </a:solidFill>
                <a:latin typeface="Arial"/>
              </a:rPr>
              <a:t>Average 24-hour watt-hour (</a:t>
            </a:r>
            <a:r>
              <a:rPr sz="680" dirty="0" err="1">
                <a:solidFill>
                  <a:srgbClr val="334155"/>
                </a:solidFill>
                <a:latin typeface="Arial"/>
              </a:rPr>
              <a:t>Wh</a:t>
            </a:r>
            <a:r>
              <a:rPr sz="680" dirty="0">
                <a:solidFill>
                  <a:srgbClr val="334155"/>
                </a:solidFill>
                <a:latin typeface="Arial"/>
              </a:rPr>
              <a:t>) energy profile under full solid-state cooling cycle.</a:t>
            </a:r>
          </a:p>
          <a:p>
            <a:pPr>
              <a:spcAft>
                <a:spcPts val="100"/>
              </a:spcAft>
            </a:pPr>
            <a:r>
              <a:rPr sz="680" b="1" dirty="0">
                <a:solidFill>
                  <a:srgbClr val="0F172A"/>
                </a:solidFill>
                <a:latin typeface="Segoe UI"/>
              </a:rPr>
              <a:t>• Battery Autonomy: </a:t>
            </a:r>
            <a:r>
              <a:rPr sz="680" dirty="0">
                <a:solidFill>
                  <a:srgbClr val="334155"/>
                </a:solidFill>
                <a:latin typeface="Arial"/>
              </a:rPr>
              <a:t>Sustained operating hours achieved solely on LiFePO4 storage during overcast days.</a:t>
            </a:r>
          </a:p>
          <a:p>
            <a:pPr>
              <a:spcAft>
                <a:spcPts val="100"/>
              </a:spcAft>
            </a:pPr>
            <a:r>
              <a:rPr sz="680" b="1" dirty="0">
                <a:solidFill>
                  <a:srgbClr val="0F172A"/>
                </a:solidFill>
                <a:latin typeface="Segoe UI"/>
              </a:rPr>
              <a:t>• Shelf-Life Improvement: </a:t>
            </a:r>
            <a:r>
              <a:rPr sz="680" dirty="0">
                <a:solidFill>
                  <a:srgbClr val="334155"/>
                </a:solidFill>
                <a:latin typeface="Arial"/>
              </a:rPr>
              <a:t>Measured extension in marketable days compared to ambient control samples.</a:t>
            </a:r>
          </a:p>
          <a:p>
            <a:pPr>
              <a:spcAft>
                <a:spcPts val="100"/>
              </a:spcAft>
            </a:pPr>
            <a:r>
              <a:rPr sz="680" b="1" dirty="0">
                <a:solidFill>
                  <a:srgbClr val="0F172A"/>
                </a:solidFill>
                <a:latin typeface="Segoe UI"/>
              </a:rPr>
              <a:t>• Spoilage Reduction: </a:t>
            </a:r>
            <a:r>
              <a:rPr sz="680" dirty="0">
                <a:solidFill>
                  <a:srgbClr val="334155"/>
                </a:solidFill>
                <a:latin typeface="Arial"/>
              </a:rPr>
              <a:t>Quantified reduction in produce physical decay and post-harvest weight loss.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7132320" y="4352544"/>
            <a:ext cx="46177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38" name="Rounded Rectangle 17437"/>
          <p:cNvSpPr/>
          <p:nvPr/>
        </p:nvSpPr>
        <p:spPr>
          <a:xfrm>
            <a:off x="7269480" y="4407408"/>
            <a:ext cx="3291840" cy="201168"/>
          </a:xfrm>
          <a:prstGeom prst="round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50" b="1">
                <a:solidFill>
                  <a:srgbClr val="FFFFFF"/>
                </a:solidFill>
                <a:latin typeface="Segoe UI"/>
              </a:defRPr>
            </a:pPr>
            <a:r>
              <a:t>FUTURE INTELLIGENCE ROADMAP [Proposed Capabilities]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7269480" y="4645152"/>
            <a:ext cx="1234440" cy="219456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680" b="1">
                <a:solidFill>
                  <a:srgbClr val="6D28D9"/>
                </a:solidFill>
                <a:latin typeface="Segoe UI"/>
              </a:defRPr>
            </a:pPr>
            <a:r>
              <a:t>IoT Telemetry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8549640" y="4645152"/>
            <a:ext cx="3108960" cy="219456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defRPr sz="680">
                <a:solidFill>
                  <a:srgbClr val="334155"/>
                </a:solidFill>
                <a:latin typeface="Arial"/>
              </a:defRPr>
            </a:pPr>
            <a:r>
              <a:t>Real-time microclimate &amp; energy data collection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7269480" y="4901184"/>
            <a:ext cx="1234440" cy="219456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680" b="1">
                <a:solidFill>
                  <a:srgbClr val="6D28D9"/>
                </a:solidFill>
                <a:latin typeface="Segoe UI"/>
              </a:defRPr>
            </a:pPr>
            <a:r>
              <a:t>Data Analytics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8549640" y="4901184"/>
            <a:ext cx="3108960" cy="219456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defRPr sz="680">
                <a:solidFill>
                  <a:srgbClr val="334155"/>
                </a:solidFill>
                <a:latin typeface="Arial"/>
              </a:defRPr>
            </a:pPr>
            <a:r>
              <a:t>Storage patterns, decay trends &amp; baseline profiling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7269480" y="5157216"/>
            <a:ext cx="1234440" cy="219456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680" b="1">
                <a:solidFill>
                  <a:srgbClr val="6D28D9"/>
                </a:solidFill>
                <a:latin typeface="Segoe UI"/>
              </a:defRPr>
            </a:pPr>
            <a:r>
              <a:t>Shelf-Life Prediction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8549640" y="5157216"/>
            <a:ext cx="3108960" cy="219456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defRPr sz="680">
                <a:solidFill>
                  <a:srgbClr val="334155"/>
                </a:solidFill>
                <a:latin typeface="Arial"/>
              </a:defRPr>
            </a:pPr>
            <a:r>
              <a:t>AI estimation of remaining marketable produce days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7269480" y="5413248"/>
            <a:ext cx="1234440" cy="219456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680" b="1">
                <a:solidFill>
                  <a:srgbClr val="6D28D9"/>
                </a:solidFill>
                <a:latin typeface="Segoe UI"/>
              </a:defRPr>
            </a:pPr>
            <a:r>
              <a:t>Demand-Aware Storage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8549640" y="5413248"/>
            <a:ext cx="3108960" cy="219456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defRPr sz="680">
                <a:solidFill>
                  <a:srgbClr val="334155"/>
                </a:solidFill>
                <a:latin typeface="Arial"/>
              </a:defRPr>
            </a:pPr>
            <a:r>
              <a:t>Market-coordinated cooling &amp; dispatch scheduling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7269480" y="5779008"/>
            <a:ext cx="4343400" cy="237744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20" b="1">
                <a:solidFill>
                  <a:srgbClr val="166534"/>
                </a:solidFill>
                <a:latin typeface="Segoe UI"/>
              </a:defRPr>
            </a:pPr>
            <a:r>
              <a:t>“From cold storage hardware to an intelligent micro-cold-chain platform.”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45920" y="73152"/>
            <a:ext cx="8046720" cy="438912"/>
          </a:xfrm>
        </p:spPr>
        <p:txBody>
          <a:bodyPr wrap="square"/>
          <a:lstStyle/>
          <a:p>
            <a:pPr algn="l" eaLnBrk="1" hangingPunct="1">
              <a:defRPr sz="2000" b="1">
                <a:solidFill>
                  <a:srgbClr val="0F172A"/>
                </a:solidFill>
                <a:latin typeface="Segoe UI"/>
              </a:defRPr>
            </a:pPr>
            <a: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00">
                <a:solidFill>
                  <a:srgbClr val="FFFFFF"/>
                </a:solidFill>
                <a:latin typeface="Arial"/>
              </a:defRPr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0040" y="109728"/>
            <a:ext cx="1188720" cy="59436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HarvestIQ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1645920" y="512064"/>
            <a:ext cx="8046720" cy="292608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Segoe UI"/>
              </a:defRPr>
            </a:pPr>
            <a:r>
              <a:t>Prior Art Benchmarking, Scientific Literature, Institutional Sources &amp; Defensible Conclusion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57200" y="1078992"/>
            <a:ext cx="5532120" cy="2606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2" name="Rounded Rectangle 17411"/>
          <p:cNvSpPr/>
          <p:nvPr/>
        </p:nvSpPr>
        <p:spPr>
          <a:xfrm>
            <a:off x="594360" y="1152144"/>
            <a:ext cx="2926080" cy="219456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RESEARCH FOUNDATION &amp; BENCHMARKING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94360" y="1408176"/>
            <a:ext cx="5257800" cy="219456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defRPr sz="780" b="1">
                <a:solidFill>
                  <a:srgbClr val="166534"/>
                </a:solidFill>
                <a:latin typeface="Segoe UI"/>
              </a:defRPr>
            </a:pPr>
            <a:r>
              <a:t>1. PUSA FARM SUNFRIDGE (Benchmark Inspiration):</a:t>
            </a:r>
          </a:p>
          <a:p>
            <a:pPr>
              <a:spcAft>
                <a:spcPts val="200"/>
              </a:spcAft>
              <a:defRPr sz="680">
                <a:solidFill>
                  <a:srgbClr val="334155"/>
                </a:solidFill>
                <a:latin typeface="Arial"/>
              </a:defRPr>
            </a:pPr>
            <a:r>
              <a:t>• Developed by Dr. Sangeeta Chopra (IARI) in collaboration with Michigan State University.</a:t>
            </a:r>
            <a:br/>
            <a:r>
              <a:t>• Off-grid, solar-powered farm cold storage facility demonstrating the fundamental viability of decentralized solar preservation for smallholders.</a:t>
            </a:r>
            <a:br/>
            <a:r>
              <a:t>• System Differentiation: Pusa SunFridge is a larger (~1–2 tonne) farm-level cold room; HarvestIQ targets a compact (20–40L) micro-storage unit with battery buffer, solid-state cooling, and IoT monitoring for individual smallholders and quick harvest batching.</a:t>
            </a:r>
            <a:br/>
            <a:r>
              <a:t>• Core Benchmark Positioning: “Existing solutions validate the need for decentralized solar-based preservation; HarvestIQ focuses on a compact, IoT-enabled micro-storage architecture.”</a:t>
            </a:r>
          </a:p>
          <a:p>
            <a:pPr>
              <a:defRPr sz="780" b="1">
                <a:solidFill>
                  <a:srgbClr val="0284C7"/>
                </a:solidFill>
                <a:latin typeface="Segoe UI"/>
              </a:defRPr>
            </a:pPr>
            <a:r>
              <a:t>2. POST-HARVEST AGRONOMIC RESEARCH:</a:t>
            </a:r>
          </a:p>
          <a:p>
            <a:pPr>
              <a:defRPr sz="680">
                <a:solidFill>
                  <a:srgbClr val="334155"/>
                </a:solidFill>
                <a:latin typeface="Arial"/>
              </a:defRPr>
            </a:pPr>
            <a:r>
              <a:t>• Rapid field heat removal is the single most critical agronomic factor in suppressing vegetable respiration and moisture transpiration.</a:t>
            </a:r>
            <a:br/>
            <a:r>
              <a:t>• Hilly Northeast logistics necessitate immediate decentralized pre-cooling at the farm gate before multi-day transit.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6126480" y="1078992"/>
            <a:ext cx="5623560" cy="2606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5" name="Rounded Rectangle 17414"/>
          <p:cNvSpPr/>
          <p:nvPr/>
        </p:nvSpPr>
        <p:spPr>
          <a:xfrm>
            <a:off x="6263640" y="1152144"/>
            <a:ext cx="2926080" cy="219456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INSTITUTIONAL &amp; SCIENTIFIC REFERENCES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6263640" y="1408176"/>
            <a:ext cx="5349240" cy="141732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spcAft>
                <a:spcPts val="100"/>
              </a:spcAft>
            </a:pPr>
            <a:r>
              <a:rPr sz="680" b="1">
                <a:solidFill>
                  <a:srgbClr val="0F172A"/>
                </a:solidFill>
                <a:latin typeface="Segoe UI"/>
              </a:rPr>
              <a:t>[1] NITI Aayog Frontier Tech: </a:t>
            </a:r>
            <a:r>
              <a:rPr sz="680">
                <a:solidFill>
                  <a:srgbClr val="334155"/>
                </a:solidFill>
                <a:latin typeface="Arial"/>
              </a:rPr>
              <a:t>“Solar-Powered Cold Storage: A Sustainable Solution for India's Agricultural Sector.” </a:t>
            </a:r>
            <a:r>
              <a:rPr sz="620">
                <a:solidFill>
                  <a:srgbClr val="64748B"/>
                </a:solidFill>
                <a:latin typeface="Arial"/>
              </a:rPr>
              <a:t>(frontiertech.niti.gov.in)</a:t>
            </a:r>
          </a:p>
          <a:p>
            <a:pPr>
              <a:spcAft>
                <a:spcPts val="100"/>
              </a:spcAft>
            </a:pPr>
            <a:r>
              <a:rPr sz="680" b="1">
                <a:solidFill>
                  <a:srgbClr val="0F172A"/>
                </a:solidFill>
                <a:latin typeface="Segoe UI"/>
              </a:rPr>
              <a:t>[2] NITI Aayog Frontier Tech: </a:t>
            </a:r>
            <a:r>
              <a:rPr sz="680">
                <a:solidFill>
                  <a:srgbClr val="334155"/>
                </a:solidFill>
                <a:latin typeface="Arial"/>
              </a:rPr>
              <a:t>“Reimagining Cold Chains: Tech-Driven Storage Solutions for India’s Perishable Agriculture.” </a:t>
            </a:r>
            <a:r>
              <a:rPr sz="620">
                <a:solidFill>
                  <a:srgbClr val="64748B"/>
                </a:solidFill>
                <a:latin typeface="Arial"/>
              </a:rPr>
              <a:t>(frontiertech.niti.gov.in)</a:t>
            </a:r>
          </a:p>
          <a:p>
            <a:pPr>
              <a:spcAft>
                <a:spcPts val="100"/>
              </a:spcAft>
            </a:pPr>
            <a:r>
              <a:rPr sz="680" b="1">
                <a:solidFill>
                  <a:srgbClr val="0F172A"/>
                </a:solidFill>
                <a:latin typeface="Segoe UI"/>
              </a:rPr>
              <a:t>[3] Inclusive IAS: </a:t>
            </a:r>
            <a:r>
              <a:rPr sz="680">
                <a:solidFill>
                  <a:srgbClr val="334155"/>
                </a:solidFill>
                <a:latin typeface="Arial"/>
              </a:rPr>
              <a:t>“Issues with Transportation of Agricultural Produce in India: Infrastructure Bottlenecks.” </a:t>
            </a:r>
            <a:r>
              <a:rPr sz="620">
                <a:solidFill>
                  <a:srgbClr val="64748B"/>
                </a:solidFill>
                <a:latin typeface="Arial"/>
              </a:rPr>
              <a:t>(inclusiveias.com)</a:t>
            </a:r>
          </a:p>
          <a:p>
            <a:pPr>
              <a:spcAft>
                <a:spcPts val="100"/>
              </a:spcAft>
            </a:pPr>
            <a:r>
              <a:rPr sz="680" b="1">
                <a:solidFill>
                  <a:srgbClr val="0F172A"/>
                </a:solidFill>
                <a:latin typeface="Segoe UI"/>
              </a:rPr>
              <a:t>[4] Times of India: </a:t>
            </a:r>
            <a:r>
              <a:rPr sz="680">
                <a:solidFill>
                  <a:srgbClr val="334155"/>
                </a:solidFill>
                <a:latin typeface="Arial"/>
              </a:rPr>
              <a:t>“From Farm to Fork: Rethinking India’s Cold Chain Architecture.” </a:t>
            </a:r>
            <a:r>
              <a:rPr sz="620">
                <a:solidFill>
                  <a:srgbClr val="64748B"/>
                </a:solidFill>
                <a:latin typeface="Arial"/>
              </a:rPr>
              <a:t>(timesofindia.indiatimes.com)</a:t>
            </a:r>
          </a:p>
          <a:p>
            <a:pPr>
              <a:spcAft>
                <a:spcPts val="100"/>
              </a:spcAft>
            </a:pPr>
            <a:r>
              <a:rPr sz="680" b="1">
                <a:solidFill>
                  <a:srgbClr val="0F172A"/>
                </a:solidFill>
                <a:latin typeface="Segoe UI"/>
              </a:rPr>
              <a:t>[5] ICAR Literature: </a:t>
            </a:r>
            <a:r>
              <a:rPr sz="680">
                <a:solidFill>
                  <a:srgbClr val="334155"/>
                </a:solidFill>
                <a:latin typeface="Arial"/>
              </a:rPr>
              <a:t>“Guidelines for On-Farm Cooling and Handling of Perishable Horticultural Crops.” </a:t>
            </a:r>
            <a:r>
              <a:rPr sz="620">
                <a:solidFill>
                  <a:srgbClr val="64748B"/>
                </a:solidFill>
                <a:latin typeface="Arial"/>
              </a:rPr>
              <a:t>(icar.gov.in)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6263640" y="2880360"/>
            <a:ext cx="5349240" cy="731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8" name="TextBox 17417"/>
          <p:cNvSpPr txBox="1"/>
          <p:nvPr/>
        </p:nvSpPr>
        <p:spPr>
          <a:xfrm>
            <a:off x="6355080" y="2907792"/>
            <a:ext cx="5166360" cy="658368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defRPr sz="750" b="1">
                <a:solidFill>
                  <a:srgbClr val="0284C7"/>
                </a:solidFill>
                <a:latin typeface="Segoe UI"/>
              </a:defRPr>
            </a:pPr>
            <a:r>
              <a:t>PROJECT TEAM &amp; ACADEMIC MENTORSHIP</a:t>
            </a:r>
          </a:p>
          <a:p>
            <a:pPr>
              <a:defRPr sz="680">
                <a:solidFill>
                  <a:srgbClr val="334155"/>
                </a:solidFill>
                <a:latin typeface="Arial"/>
              </a:defRPr>
            </a:pPr>
            <a:r>
              <a:t>• Team Members: Sk Aman (Team Leader), P. Gopi Chand, P. Uday Kiran, K. Manu Vidya, S. Greeshma, G. Naveen Kumar</a:t>
            </a:r>
          </a:p>
          <a:p>
            <a:pPr>
              <a:defRPr sz="680" b="1">
                <a:solidFill>
                  <a:srgbClr val="166534"/>
                </a:solidFill>
                <a:latin typeface="Segoe UI"/>
              </a:defRPr>
            </a:pPr>
            <a:r>
              <a:t>• SIH Academic Mentor: Dr. B. Satya Sri, Professor – Department of ECE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457200" y="3794760"/>
            <a:ext cx="1129284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0" name="Rounded Rectangle 17419"/>
          <p:cNvSpPr/>
          <p:nvPr/>
        </p:nvSpPr>
        <p:spPr>
          <a:xfrm>
            <a:off x="594360" y="3858768"/>
            <a:ext cx="2926080" cy="219456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DEFENSIBLE CONCLUSION &amp; EXECUTION ROADMAP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594360" y="4114800"/>
            <a:ext cx="6217920" cy="1965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2" name="TextBox 17421"/>
          <p:cNvSpPr txBox="1"/>
          <p:nvPr/>
        </p:nvSpPr>
        <p:spPr>
          <a:xfrm>
            <a:off x="685800" y="4151376"/>
            <a:ext cx="6035040" cy="1874519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spcAft>
                <a:spcPts val="200"/>
              </a:spcAft>
            </a:pPr>
            <a:r>
              <a:rPr sz="700" b="1">
                <a:solidFill>
                  <a:srgbClr val="0284C7"/>
                </a:solidFill>
                <a:latin typeface="Segoe UI"/>
              </a:rPr>
              <a:t>1. PROBLEM: </a:t>
            </a:r>
            <a:r>
              <a:rPr sz="680">
                <a:solidFill>
                  <a:srgbClr val="334155"/>
                </a:solidFill>
                <a:latin typeface="Arial"/>
              </a:rPr>
              <a:t>Smallholders in remote, hilly NER lack decentralized preservation, causing rapid spoilage &amp; distress sales.</a:t>
            </a:r>
          </a:p>
          <a:p>
            <a:pPr>
              <a:spcAft>
                <a:spcPts val="200"/>
              </a:spcAft>
            </a:pPr>
            <a:r>
              <a:rPr sz="700" b="1">
                <a:solidFill>
                  <a:srgbClr val="0284C7"/>
                </a:solidFill>
                <a:latin typeface="Segoe UI"/>
              </a:rPr>
              <a:t>2. SOLUTION: </a:t>
            </a:r>
            <a:r>
              <a:rPr sz="680">
                <a:solidFill>
                  <a:srgbClr val="334155"/>
                </a:solidFill>
                <a:latin typeface="Arial"/>
              </a:rPr>
              <a:t>HarvestIQ integrates 100% solar PV, LiFePO4 battery, solid-state Peltier cooling, ESP32 intelligence &amp; IoT telemetry.</a:t>
            </a:r>
          </a:p>
          <a:p>
            <a:pPr>
              <a:spcAft>
                <a:spcPts val="200"/>
              </a:spcAft>
            </a:pPr>
            <a:r>
              <a:rPr sz="700" b="1">
                <a:solidFill>
                  <a:srgbClr val="166534"/>
                </a:solidFill>
                <a:latin typeface="Segoe UI"/>
              </a:rPr>
              <a:t>3. EVIDENCE: </a:t>
            </a:r>
            <a:r>
              <a:rPr sz="680">
                <a:solidFill>
                  <a:srgbClr val="334155"/>
                </a:solidFill>
                <a:latin typeface="Arial"/>
              </a:rPr>
              <a:t>Prototype architecture, edge control, and telemetry workflow demonstrated; thermodynamic pull-down and field trials are the defined validation steps.</a:t>
            </a:r>
          </a:p>
          <a:p>
            <a:pPr>
              <a:spcAft>
                <a:spcPts val="200"/>
              </a:spcAft>
            </a:pPr>
            <a:r>
              <a:rPr sz="700" b="1">
                <a:solidFill>
                  <a:srgbClr val="166534"/>
                </a:solidFill>
                <a:latin typeface="Segoe UI"/>
              </a:rPr>
              <a:t>4. IMPACT: </a:t>
            </a:r>
            <a:r>
              <a:rPr sz="680">
                <a:solidFill>
                  <a:srgbClr val="334155"/>
                </a:solidFill>
                <a:latin typeface="Arial"/>
              </a:rPr>
              <a:t>Protects produce quality, grants farmers market timing flexibility, and establishes an accessible micro-cold-chain layer.</a:t>
            </a:r>
          </a:p>
          <a:p>
            <a:pPr>
              <a:spcAft>
                <a:spcPts val="200"/>
              </a:spcAft>
            </a:pPr>
            <a:r>
              <a:rPr sz="700" b="1">
                <a:solidFill>
                  <a:srgbClr val="B91C1C"/>
                </a:solidFill>
                <a:latin typeface="Segoe UI"/>
              </a:rPr>
              <a:t>5. RECOMMENDATION: </a:t>
            </a:r>
            <a:r>
              <a:rPr sz="680">
                <a:solidFill>
                  <a:srgbClr val="334155"/>
                </a:solidFill>
                <a:latin typeface="Arial"/>
              </a:rPr>
              <a:t>Proceed to thermal characterization → farmer pilot in NER clusters → optimization → scalable deployment.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6903720" y="4114800"/>
            <a:ext cx="470916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4" name="TextBox 17423"/>
          <p:cNvSpPr txBox="1"/>
          <p:nvPr/>
        </p:nvSpPr>
        <p:spPr>
          <a:xfrm>
            <a:off x="6995160" y="4151376"/>
            <a:ext cx="4526280" cy="18288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>
              <a:defRPr sz="780" b="1">
                <a:solidFill>
                  <a:srgbClr val="0F172A"/>
                </a:solidFill>
                <a:latin typeface="Segoe UI"/>
              </a:defRPr>
            </a:pPr>
            <a:r>
              <a:t>PHASED IMPLEMENTATION ROADMAP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6995160" y="4370832"/>
            <a:ext cx="777240" cy="256032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20" b="1">
                <a:solidFill>
                  <a:srgbClr val="FFFFFF"/>
                </a:solidFill>
                <a:latin typeface="Segoe UI"/>
              </a:defRPr>
            </a:pPr>
            <a:r>
              <a:t>NOW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7818120" y="4370832"/>
            <a:ext cx="3703320" cy="256032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r>
              <a:rPr sz="700" b="1">
                <a:solidFill>
                  <a:srgbClr val="0F172A"/>
                </a:solidFill>
                <a:latin typeface="Segoe UI"/>
              </a:rPr>
              <a:t>Prototype &amp; Thermal Testing: </a:t>
            </a:r>
            <a:r>
              <a:rPr sz="680">
                <a:solidFill>
                  <a:srgbClr val="334155"/>
                </a:solidFill>
                <a:latin typeface="Arial"/>
              </a:rPr>
              <a:t>Characterize pull-down rate &amp; steady-state COP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6995160" y="4663440"/>
            <a:ext cx="777240" cy="256032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20" b="1">
                <a:solidFill>
                  <a:srgbClr val="FFFFFF"/>
                </a:solidFill>
                <a:latin typeface="Segoe UI"/>
              </a:defRPr>
            </a:pPr>
            <a:r>
              <a:t>NEXT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7818120" y="4663440"/>
            <a:ext cx="3703320" cy="256032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r>
              <a:rPr sz="700" b="1">
                <a:solidFill>
                  <a:srgbClr val="0F172A"/>
                </a:solidFill>
                <a:latin typeface="Segoe UI"/>
              </a:rPr>
              <a:t>Field Pilot &amp; Farmer Trials: </a:t>
            </a:r>
            <a:r>
              <a:rPr sz="680">
                <a:solidFill>
                  <a:srgbClr val="334155"/>
                </a:solidFill>
                <a:latin typeface="Arial"/>
              </a:rPr>
              <a:t>Validate in real NER farming cluster with user feedback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6995160" y="4956048"/>
            <a:ext cx="777240" cy="256032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20" b="1">
                <a:solidFill>
                  <a:srgbClr val="FFFFFF"/>
                </a:solidFill>
                <a:latin typeface="Segoe UI"/>
              </a:defRPr>
            </a:pPr>
            <a:r>
              <a:t>THEN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7818120" y="4956048"/>
            <a:ext cx="3703320" cy="256032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r>
              <a:rPr sz="700" b="1">
                <a:solidFill>
                  <a:srgbClr val="0F172A"/>
                </a:solidFill>
                <a:latin typeface="Segoe UI"/>
              </a:rPr>
              <a:t>Optimization &amp; Sourcing: </a:t>
            </a:r>
            <a:r>
              <a:rPr sz="680">
                <a:solidFill>
                  <a:srgbClr val="334155"/>
                </a:solidFill>
                <a:latin typeface="Arial"/>
              </a:rPr>
              <a:t>Optimize insulation k-value, battery capacity &amp; BOM cost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6995160" y="5248656"/>
            <a:ext cx="777240" cy="256032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20" b="1">
                <a:solidFill>
                  <a:srgbClr val="FFFFFF"/>
                </a:solidFill>
                <a:latin typeface="Segoe UI"/>
              </a:defRPr>
            </a:pPr>
            <a:r>
              <a:t>FUTURE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7818120" y="5248656"/>
            <a:ext cx="3703320" cy="256032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r>
              <a:rPr sz="700" b="1">
                <a:solidFill>
                  <a:srgbClr val="0F172A"/>
                </a:solidFill>
                <a:latin typeface="Segoe UI"/>
              </a:rPr>
              <a:t>Intelligent Micro-Cold-Chain: </a:t>
            </a:r>
            <a:r>
              <a:rPr sz="680">
                <a:solidFill>
                  <a:srgbClr val="334155"/>
                </a:solidFill>
                <a:latin typeface="Arial"/>
              </a:rPr>
              <a:t>Scale modular units with predictive cloud shelf-life AI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6995160" y="5596128"/>
            <a:ext cx="4526280" cy="402336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34" name="TextBox 17433"/>
          <p:cNvSpPr txBox="1"/>
          <p:nvPr/>
        </p:nvSpPr>
        <p:spPr>
          <a:xfrm>
            <a:off x="7086600" y="5614416"/>
            <a:ext cx="4343400" cy="347472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ctr">
              <a:defRPr sz="819" b="1">
                <a:solidFill>
                  <a:srgbClr val="166534"/>
                </a:solidFill>
                <a:latin typeface="Segoe UI"/>
              </a:defRPr>
            </a:pPr>
            <a:r>
              <a:t>“Preserve Freshness. Choose When to Sell. Create Better Value.”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7625</TotalTime>
  <Words>2991</Words>
  <Application>Microsoft Office PowerPoint</Application>
  <PresentationFormat>Widescreen</PresentationFormat>
  <Paragraphs>287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ＭＳ Ｐゴシック</vt:lpstr>
      <vt:lpstr>Arial</vt:lpstr>
      <vt:lpstr>Calibri</vt:lpstr>
      <vt:lpstr>Segoe UI</vt:lpstr>
      <vt:lpstr>Times New Roman</vt:lpstr>
      <vt:lpstr>TradeGothic</vt:lpstr>
      <vt:lpstr>Office Theme</vt:lpstr>
      <vt:lpstr>PowerPoint Presentation</vt:lpstr>
      <vt:lpstr>IMPACT AND BENEFITS</vt:lpstr>
      <vt:lpstr>HARVESTIQ — THE PROPOSED SOLUTION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Shaik Aman</cp:lastModifiedBy>
  <cp:revision>148</cp:revision>
  <dcterms:created xsi:type="dcterms:W3CDTF">2013-12-12T18:46:50Z</dcterms:created>
  <dcterms:modified xsi:type="dcterms:W3CDTF">2026-09-14T19:13:48Z</dcterms:modified>
  <cp:category/>
</cp:coreProperties>
</file>