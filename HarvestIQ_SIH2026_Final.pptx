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Aman" userId="530fa9149c7ef315" providerId="LiveId" clId="{FA860A44-5A79-42E9-AFA7-10BAC9F2F48C}"/>
    <pc:docChg chg="modSld">
      <pc:chgData name="Shaik Aman" userId="530fa9149c7ef315" providerId="LiveId" clId="{FA860A44-5A79-42E9-AFA7-10BAC9F2F48C}" dt="2026-09-14T08:14:17.789" v="0" actId="1076"/>
      <pc:docMkLst>
        <pc:docMk/>
      </pc:docMkLst>
      <pc:sldChg chg="modSp mod">
        <pc:chgData name="Shaik Aman" userId="530fa9149c7ef315" providerId="LiveId" clId="{FA860A44-5A79-42E9-AFA7-10BAC9F2F48C}" dt="2026-09-14T08:14:17.789" v="0" actId="1076"/>
        <pc:sldMkLst>
          <pc:docMk/>
          <pc:sldMk cId="0" sldId="291"/>
        </pc:sldMkLst>
        <pc:spChg chg="mod">
          <ac:chgData name="Shaik Aman" userId="530fa9149c7ef315" providerId="LiveId" clId="{FA860A44-5A79-42E9-AFA7-10BAC9F2F48C}" dt="2026-09-14T08:14:17.789" v="0" actId="1076"/>
          <ac:spMkLst>
            <pc:docMk/>
            <pc:sldMk cId="0" sldId="291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82880"/>
            <a:ext cx="29260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"/>
            <a:ext cx="896112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HARVESTIQ — Intelligent Solar Cold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14400"/>
            <a:ext cx="89611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Decentralized Solar Preservation &amp; Last-Mile Cold-Chain Technology for Smallholder Farmers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34440"/>
            <a:ext cx="48463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1353312"/>
            <a:ext cx="274320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OFFICIAL SUBMISSION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719072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Problem Statement ID: </a:t>
            </a:r>
            <a:r>
              <a:rPr sz="850" b="1">
                <a:solidFill>
                  <a:srgbClr val="0070C0"/>
                </a:solidFill>
                <a:latin typeface="Arial"/>
              </a:rPr>
              <a:t>26005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48255"/>
            <a:ext cx="457200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Problem Statement Title: </a:t>
            </a:r>
            <a:r>
              <a:rPr sz="850" b="0">
                <a:solidFill>
                  <a:srgbClr val="1E293B"/>
                </a:solidFill>
                <a:latin typeface="Arial"/>
              </a:rPr>
              <a:t>Solar-Powered Smart Mini Cold Storage System for Fresh Vegetables in North Eastern Region (NER)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23744"/>
            <a:ext cx="457200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Theme: </a:t>
            </a:r>
            <a:r>
              <a:rPr sz="850" b="1">
                <a:solidFill>
                  <a:srgbClr val="166534"/>
                </a:solidFill>
                <a:latin typeface="Arial"/>
              </a:rPr>
              <a:t>Agriculture, FoodTech &amp; Rural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99232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PS Category: </a:t>
            </a:r>
            <a:r>
              <a:rPr sz="850" b="1">
                <a:solidFill>
                  <a:srgbClr val="1E293B"/>
                </a:solidFill>
                <a:latin typeface="Arial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28415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Team Name: </a:t>
            </a:r>
            <a:r>
              <a:rPr sz="850" b="1">
                <a:solidFill>
                  <a:srgbClr val="0284C7"/>
                </a:solidFill>
                <a:latin typeface="Arial"/>
              </a:rPr>
              <a:t>HarvestIQ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57599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Segoe UI"/>
              </a:rPr>
              <a:t>Team ID: </a:t>
            </a:r>
            <a:r>
              <a:rPr sz="850" b="0">
                <a:solidFill>
                  <a:srgbClr val="64748B"/>
                </a:solidFill>
                <a:latin typeface="Arial"/>
              </a:rPr>
              <a:t>[Registered on Portal]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31920"/>
            <a:ext cx="4572000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2976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PROJECT POSITIONING &amp;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42816"/>
            <a:ext cx="4297680" cy="1645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760">
                <a:solidFill>
                  <a:srgbClr val="1E293B"/>
                </a:solidFill>
                <a:latin typeface="Arial"/>
              </a:defRPr>
            </a:pPr>
            <a:r>
              <a:t>• Core Positioning: Bringing intelligent, solar-powered preservation closer to the farmer through a compact, modular and IoT-enabled system.</a:t>
            </a:r>
          </a:p>
          <a:p>
            <a:pPr>
              <a:spcAft>
                <a:spcPts val="300"/>
              </a:spcAft>
              <a:defRPr sz="760">
                <a:solidFill>
                  <a:srgbClr val="1E293B"/>
                </a:solidFill>
                <a:latin typeface="Arial"/>
              </a:defRPr>
            </a:pPr>
            <a:r>
              <a:t>• Strategic Gap: Existing cold-storage systems address bulk storage. HarvestIQ focuses on the last-mile preservation gap between harvest and the larger cold chain.</a:t>
            </a:r>
          </a:p>
          <a:p>
            <a:pPr>
              <a:defRPr sz="760" b="1">
                <a:solidFill>
                  <a:srgbClr val="166534"/>
                </a:solidFill>
                <a:latin typeface="Segoe UI"/>
              </a:defRPr>
            </a:pPr>
            <a:r>
              <a:t>• Prototype Tech: 20–40 L Chamber  •  100W Solar PV + LiFePO4 Battery  •  Peltier Thermoelectric Cooling  •  ESP32 Multi-Sensor 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1234440"/>
            <a:ext cx="62636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23560" y="1353312"/>
            <a:ext cx="3108960" cy="25603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PROBLEM &amp; REGIONAL CHALLENGE (NER)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1664208"/>
            <a:ext cx="58978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50" b="1">
                <a:solidFill>
                  <a:srgbClr val="1E293B"/>
                </a:solidFill>
                <a:latin typeface="Segoe UI"/>
              </a:defRPr>
            </a:pPr>
            <a:r>
              <a:t>The Northeast Perishable Value Chain Bottleneck (Root-Cause Chain):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1. FRESH HARVEST</a:t>
            </a:r>
            <a:br/>
            <a:r>
              <a:t>Field picking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76288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04888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2. HIGH PERISHABILITY</a:t>
            </a:r>
            <a:br/>
            <a:r>
              <a:t>Rapid decay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6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86216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3. NO LOCAL COLD CHAIN</a:t>
            </a:r>
            <a:br/>
            <a:r>
              <a:t>Decentralized 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38944" y="2029968"/>
            <a:ext cx="1828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67544" y="1920240"/>
            <a:ext cx="123444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00" b="1">
                <a:solidFill>
                  <a:srgbClr val="B91C1C"/>
                </a:solidFill>
                <a:latin typeface="Segoe UI"/>
              </a:defRPr>
            </a:pPr>
            <a:r>
              <a:t>4. POWER INTERRUPTIONS</a:t>
            </a:r>
            <a:br/>
            <a:r>
              <a:t>Grid deficit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2560320"/>
            <a:ext cx="3657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↳ 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468880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rPr dirty="0"/>
              <a:t>5. HILLY TRANSIT</a:t>
            </a:r>
            <a:br>
              <a:rPr dirty="0"/>
            </a:br>
            <a:r>
              <a:rPr dirty="0"/>
              <a:t>Slow connectivity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08392" y="2578608"/>
            <a:ext cx="201168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rPr dirty="0"/>
              <a:t>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2478024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t>6. FORCED EARLY SALE</a:t>
            </a:r>
            <a:br/>
            <a:r>
              <a:t>Buyer distress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1472" y="2578608"/>
            <a:ext cx="201168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59" y="2468880"/>
            <a:ext cx="1508760" cy="47548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B91C1C"/>
                </a:solidFill>
                <a:latin typeface="Segoe UI"/>
              </a:defRPr>
            </a:pPr>
            <a:r>
              <a:t>7. VALUE LOSS</a:t>
            </a:r>
            <a:br/>
            <a:r>
              <a:t>Income erosion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23560" y="3035808"/>
            <a:ext cx="2926080" cy="96926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15000" y="3090672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B45309"/>
                </a:solidFill>
                <a:latin typeface="Segoe UI"/>
              </a:defRPr>
            </a:pPr>
            <a:r>
              <a:t>• High Vegetable Perishability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Fresh vegetables respire rapidly after harvest. In warm, humid climates, loss of moisture and nutrient decay degrades marketable quality within 24–48 hours without immediate cooling.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3035808"/>
            <a:ext cx="2926080" cy="9692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2519" y="3090672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0284C7"/>
                </a:solidFill>
                <a:latin typeface="Segoe UI"/>
              </a:defRPr>
            </a:pPr>
            <a:r>
              <a:t>• Difficult NER Terrain &amp; Transport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Hilly topography, scattered smallholdings, and vulnerable road networks severely delay farm-to-market transit, turning short distances into multi-day transit bottlenecks.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4078224"/>
            <a:ext cx="2926080" cy="9692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15000" y="4133087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B91C1C"/>
                </a:solidFill>
                <a:latin typeface="Segoe UI"/>
              </a:defRPr>
            </a:pPr>
            <a:r>
              <a:t>• Unreliable Rural Grid Electricity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Remote rural and hilly farming pockets experience frequent power outages or complete off-grid conditions, making conventional AC compressor cold rooms unfeasible.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4078224"/>
            <a:ext cx="2926080" cy="9692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19" y="4133087"/>
            <a:ext cx="2743200" cy="85953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6D28D9"/>
                </a:solidFill>
                <a:latin typeface="Segoe UI"/>
              </a:defRPr>
            </a:pPr>
            <a:r>
              <a:t>• Distress Selling &amp; Loss of Value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Lacking accessible decentralized cold storage close to the farm, smallholders are forced into immediate distress selling at buyer-dictated low prices to avoid complete spoilage.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23560" y="5138928"/>
            <a:ext cx="5943600" cy="84124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15000" y="5175504"/>
            <a:ext cx="5760720" cy="76809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850" b="1">
                <a:solidFill>
                  <a:srgbClr val="166534"/>
                </a:solidFill>
                <a:latin typeface="Segoe UI"/>
              </a:defRPr>
            </a:pPr>
            <a:r>
              <a:t>CORE PROJECT OBJECTIVE</a:t>
            </a:r>
          </a:p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“Preserve freshness closer to the farm and give farmers greater flexibility in when to sell.”</a:t>
            </a:r>
          </a:p>
          <a:p>
            <a:pPr algn="ctr">
              <a:defRPr sz="700" b="1">
                <a:solidFill>
                  <a:srgbClr val="166534"/>
                </a:solidFill>
                <a:latin typeface="Arial"/>
              </a:defRPr>
            </a:pPr>
            <a:r>
              <a:t>Visual Flow: Farmer  ➔  Fresh Harvest  ➔  Solar Energy  ➔  HarvestIQ Storage  ➔  Transport  ➔  Fair Market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algn="l" eaLnBrk="1" hangingPunct="1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HARVESTIQ — THE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Decentralized, Solar-Powered Micro-Preservation Addressing the Last-Mile Cold Chain Gap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078992"/>
            <a:ext cx="66751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PRODUCT CONCEPT &amp; PROTOTYPE PILLARS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94360" y="1426464"/>
            <a:ext cx="15087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COMPACT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148840" y="1426464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20–40 L farm-level portable cold chamber designed for smallholder harvest batching.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94360" y="1755648"/>
            <a:ext cx="150876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B45309"/>
                </a:solidFill>
                <a:latin typeface="Segoe UI"/>
              </a:defRPr>
            </a:pPr>
            <a:r>
              <a:t>SOLAR POWERED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148840" y="1755648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100W Solar PV + LiFePO4 battery backup for 100% off-grid reliability.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2084831"/>
            <a:ext cx="1508760" cy="292608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SMART CONTROL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148840" y="2084831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ESP32 microcontroller automating closed-loop cooling and thermal stability.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94360" y="2414015"/>
            <a:ext cx="1508760" cy="292608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6D28D9"/>
                </a:solidFill>
                <a:latin typeface="Segoe UI"/>
              </a:defRPr>
            </a:pPr>
            <a:r>
              <a:t>IoT MONITORING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2148840" y="2414015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Multi-parameter telemetry: chamber temperature, humidity, door status &amp; battery.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4360" y="2743199"/>
            <a:ext cx="150876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FARMER INTERFACE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2148840" y="2743199"/>
            <a:ext cx="48463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Simple local indicators, mobile dashboard alerts &amp; proactive anomaly warnings.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594360" y="3090672"/>
            <a:ext cx="640080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50" b="1">
                <a:solidFill>
                  <a:srgbClr val="0284C7"/>
                </a:solidFill>
                <a:latin typeface="Segoe UI"/>
              </a:defRPr>
            </a:pPr>
            <a:r>
              <a:t>• Solid-state Peltier-based cooling maintains suitable storage conditions for the compact prototype.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269480" y="1078992"/>
            <a:ext cx="4480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7" name="Picture 15376" descr="hero_cold_stor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152144"/>
            <a:ext cx="4297680" cy="1783080"/>
          </a:xfrm>
          <a:prstGeom prst="rect">
            <a:avLst/>
          </a:prstGeom>
        </p:spPr>
      </p:pic>
      <p:sp>
        <p:nvSpPr>
          <p:cNvPr id="15378" name="Rounded Rectangle 15377"/>
          <p:cNvSpPr/>
          <p:nvPr/>
        </p:nvSpPr>
        <p:spPr>
          <a:xfrm>
            <a:off x="7360920" y="2980944"/>
            <a:ext cx="429768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HarvestIQ Farm-Gate Micro Solar Cold Storage Concept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57200" y="3401568"/>
            <a:ext cx="11292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0" name="Rounded Rectangle 15379"/>
          <p:cNvSpPr/>
          <p:nvPr/>
        </p:nvSpPr>
        <p:spPr>
          <a:xfrm>
            <a:off x="594360" y="3493008"/>
            <a:ext cx="35204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685800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E293B"/>
                </a:solidFill>
                <a:latin typeface="Segoe UI"/>
              </a:defRPr>
            </a:pPr>
            <a:r>
              <a:t>EXISTING INFRASTRUCTURE</a:t>
            </a:r>
          </a:p>
          <a:p>
            <a:pPr>
              <a:defRPr sz="720">
                <a:solidFill>
                  <a:srgbClr val="64748B"/>
                </a:solidFill>
                <a:latin typeface="Arial"/>
              </a:defRPr>
            </a:pPr>
            <a:r>
              <a:t>Large / bulk cold-storage infrastructure and centralized compressor facilities. High capital cost, grid-reliant, and situated far from remote hilly farmsteads.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343400" y="3493008"/>
            <a:ext cx="35204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TextBox 15382"/>
          <p:cNvSpPr txBox="1"/>
          <p:nvPr/>
        </p:nvSpPr>
        <p:spPr>
          <a:xfrm>
            <a:off x="4434840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B45309"/>
                </a:solidFill>
                <a:latin typeface="Segoe UI"/>
              </a:defRPr>
            </a:pPr>
            <a:r>
              <a:t>THE UNADDRESSED GAP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Small &amp; marginal farmers need a compact, accessible preservation layer right at harvest / collection points for short-term (24–72h) buffer storage before transit.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92440" y="3493008"/>
            <a:ext cx="3520440" cy="822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5" name="TextBox 15384"/>
          <p:cNvSpPr txBox="1"/>
          <p:nvPr/>
        </p:nvSpPr>
        <p:spPr>
          <a:xfrm>
            <a:off x="8183879" y="3529584"/>
            <a:ext cx="3337560" cy="7498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0070C0"/>
                </a:solidFill>
                <a:latin typeface="Segoe UI"/>
              </a:defRPr>
            </a:pPr>
            <a:r>
              <a:t>HARVESTIQ SOLUTION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Compact (20–40L) + 100% Solar DC + LiFePO4 battery + Solid-state Peltier + ESP32 edge control + Multi-sensor IoT telemetry.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94360" y="4370832"/>
            <a:ext cx="11018520" cy="237744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166534"/>
                </a:solidFill>
                <a:latin typeface="Segoe UI"/>
              </a:defRPr>
            </a:pPr>
            <a:r>
              <a:t>STRATEGIC DIFFERENTIATION: “Not replacing large cold rooms — filling the last-mile preservation gap.”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57200" y="4754880"/>
            <a:ext cx="11292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8" name="Rounded Rectangle 15387"/>
          <p:cNvSpPr/>
          <p:nvPr/>
        </p:nvSpPr>
        <p:spPr>
          <a:xfrm>
            <a:off x="594360" y="4828032"/>
            <a:ext cx="237744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INNOVATION &amp; SYSTEM UNIQUENESS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59436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1. Decentralized Farm Architecture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Micro-storage situated directly at farm level for immediate post-harvest heat removal.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34340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2. 100% Off-Grid Solar + Battery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Dedicated DC power bus with LiFePO4 battery buffer eliminating grid dependence.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092440" y="5102352"/>
            <a:ext cx="35204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3. Multi-Parameter Sensing Suite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Real-time telemetry of temp, humidity, door ajar status, and battery state of charge.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594360" y="5632704"/>
            <a:ext cx="26060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4. Automated Edge Cooling Control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Autonomous ESP32 firmware executes local hysteresis cooling logic without internet latency.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337560" y="5632704"/>
            <a:ext cx="260604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5. Proactive Alerting System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Instant buzzer &amp; mobile notifications for prolonged door openings or thermal deviations.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080760" y="5632704"/>
            <a:ext cx="269748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6D28D9"/>
                </a:solidFill>
                <a:latin typeface="Segoe UI"/>
              </a:defRPr>
            </a:pPr>
            <a:r>
              <a:t>6. Crop-Specific Storage Profiles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[Proposed / Future Intelligence] Target temperature &amp; humidity presets tailored for specific crops.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915400" y="5632704"/>
            <a:ext cx="2697480" cy="4754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6D28D9"/>
                </a:solidFill>
                <a:latin typeface="Segoe UI"/>
              </a:defRPr>
            </a:pPr>
            <a:r>
              <a:t>7. Predictive Pre-Cooling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[Proposed / Future Intelligence] Energy-aware pre-cooling scheduled during peak solar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algn="l" eaLnBrk="1" hangingPunct="1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System Architecture, Closed-Loop Control Logic &amp; Solid-State Thermal Management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11292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31089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END-TO-END SYSTEM ARCHITECTURE &amp; DATA FLOW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426464"/>
            <a:ext cx="11018520" cy="8412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1444752"/>
            <a:ext cx="107899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B45309"/>
                </a:solidFill>
                <a:latin typeface="Segoe UI"/>
              </a:defRPr>
            </a:pPr>
            <a:r>
              <a:t>PATHWAY A: HARDWARE &amp; ENERGY FLOW (100% Off-Grid Dedicated DC Architecture)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☀ SOLAR PV</a:t>
            </a:r>
            <a:br/>
            <a:r>
              <a:t>100W Monocrystalline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984248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221991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MPPT CHARGER</a:t>
            </a:r>
            <a:br/>
            <a:r>
              <a:t>High-efficiency buck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520439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758183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LiFePO4 BATTERY</a:t>
            </a:r>
            <a:br/>
            <a:r>
              <a:t>12V 20–40Ah pack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56631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294375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DC POWER BUS</a:t>
            </a:r>
            <a:br/>
            <a:r>
              <a:t>Regulated 12V/5V rail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592823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830567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PELTIER MODULE</a:t>
            </a:r>
            <a:br/>
            <a:r>
              <a:t>TEC1-12706 unit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129015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366759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INSULATED BOX</a:t>
            </a:r>
            <a:br/>
            <a:r>
              <a:t>PUF chamber 20–40L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665207" y="1783080"/>
            <a:ext cx="201168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902951" y="1645920"/>
            <a:ext cx="12801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FRESH PRODUCE</a:t>
            </a:r>
            <a:br/>
            <a:r>
              <a:t>4–8°C storage hold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2322576"/>
            <a:ext cx="110185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85800" y="2340864"/>
            <a:ext cx="107899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PATHWAY B: SENSING, EDGE CONTROL &amp; IoT TELEMETRY FLOW (Closed-Loop Edge Execution)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85800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SENSORS ARRAY</a:t>
            </a:r>
            <a:br/>
            <a:r>
              <a:t>Temp, RH, Door, Power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240280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496312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ESP32 CONTROLLER</a:t>
            </a:r>
            <a:br/>
            <a:r>
              <a:t>Dual-core FreeRTOS logic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050791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06824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MOSFET DRIVER</a:t>
            </a:r>
            <a:br/>
            <a:r>
              <a:t>PWM cooling modulation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861304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17336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ALERTS &amp; BUZZER</a:t>
            </a:r>
            <a:br/>
            <a:r>
              <a:t>Local LED + Audio alarm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671815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927848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IoT DASHBOARD</a:t>
            </a:r>
            <a:br/>
            <a:r>
              <a:t>Cloud / Wi-Fi / 4G telemetry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482328" y="2688336"/>
            <a:ext cx="219456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738360" y="2542032"/>
            <a:ext cx="1536192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0F172A"/>
                </a:solidFill>
                <a:latin typeface="Segoe UI"/>
              </a:defRPr>
            </a:pPr>
            <a:r>
              <a:t>FARMER MONITORING</a:t>
            </a:r>
            <a:br/>
            <a:r>
              <a:t>Mobile alerts &amp; historical logs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3401568"/>
            <a:ext cx="6492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594360" y="3474720"/>
            <a:ext cx="31089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TECHNOLOGY LAYERS &amp; CLOSED-LOOP CONTROL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4360" y="3730752"/>
            <a:ext cx="6217920" cy="8686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rPr dirty="0"/>
              <a:t>• HARDWARE LAYER: 100W Solar PV, MPPT charge controller, 12V LiFePO4 battery, Peltier module (TEC1-12706), internal fan, external extruded heatsink + 120mm exhaust fan, ESP32 MCU, DS18B20 temp probe, SHT31 humidity sensor, reed door switch, INA219 power telemetry.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rPr dirty="0"/>
              <a:t>• SOFTWARE &amp; FIRMWARE: Embedded C/C++ (ESP-IDF / Arduino core), </a:t>
            </a:r>
            <a:r>
              <a:rPr dirty="0" err="1"/>
              <a:t>FreeRTOS</a:t>
            </a:r>
            <a:r>
              <a:rPr dirty="0"/>
              <a:t> dual-task execution, MQTT &amp; HTTP REST protocols, responsive web IoT dashboard.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94360" y="4645152"/>
            <a:ext cx="6217920" cy="138988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685800" y="4681728"/>
            <a:ext cx="6035040" cy="129844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80" b="1">
                <a:solidFill>
                  <a:srgbClr val="166534"/>
                </a:solidFill>
                <a:latin typeface="Segoe UI"/>
              </a:defRPr>
            </a:pPr>
            <a:r>
              <a:rPr dirty="0"/>
              <a:t>CLOSED-LOOP WORKFLOW: INPUT ➔ PROCESS ➔ DECISION ➔ OUTPUT ➔ FEEDBACK</a:t>
            </a:r>
          </a:p>
          <a:p>
            <a:r>
              <a:rPr sz="700" b="1" dirty="0">
                <a:solidFill>
                  <a:srgbClr val="0F172A"/>
                </a:solidFill>
                <a:latin typeface="Segoe UI"/>
              </a:rPr>
              <a:t>INPUT: </a:t>
            </a:r>
            <a:r>
              <a:rPr sz="700" dirty="0">
                <a:solidFill>
                  <a:srgbClr val="334155"/>
                </a:solidFill>
                <a:latin typeface="Arial"/>
              </a:rPr>
              <a:t>Continuous sensor acquisition: chamber temperature, ambient RH, door contact, and battery voltage/current.</a:t>
            </a:r>
          </a:p>
          <a:p>
            <a:r>
              <a:rPr sz="700" b="1" dirty="0">
                <a:solidFill>
                  <a:srgbClr val="0F172A"/>
                </a:solidFill>
                <a:latin typeface="Segoe UI"/>
              </a:rPr>
              <a:t>PROCESS: </a:t>
            </a:r>
            <a:r>
              <a:rPr sz="700" dirty="0">
                <a:solidFill>
                  <a:srgbClr val="334155"/>
                </a:solidFill>
                <a:latin typeface="Arial"/>
              </a:rPr>
              <a:t>ESP32 firmware evaluates real-time sensor readings against crop target setpoint band (4–8°C) and battery low-voltage threshold.</a:t>
            </a:r>
          </a:p>
          <a:p>
            <a:r>
              <a:rPr sz="700" b="1" dirty="0">
                <a:solidFill>
                  <a:srgbClr val="0F172A"/>
                </a:solidFill>
                <a:latin typeface="Segoe UI"/>
              </a:rPr>
              <a:t>DECISION: </a:t>
            </a:r>
            <a:r>
              <a:rPr sz="700" dirty="0">
                <a:solidFill>
                  <a:srgbClr val="334155"/>
                </a:solidFill>
                <a:latin typeface="Arial"/>
              </a:rPr>
              <a:t>Is chamber temp &gt; Setpoint + Hysteresis? Is battery charge safe (&gt;11.5V)? Is chamber door securely closed?</a:t>
            </a:r>
          </a:p>
          <a:p>
            <a:r>
              <a:rPr sz="700" b="1" dirty="0">
                <a:solidFill>
                  <a:srgbClr val="0F172A"/>
                </a:solidFill>
                <a:latin typeface="Segoe UI"/>
              </a:rPr>
              <a:t>OUTPUT: </a:t>
            </a:r>
            <a:r>
              <a:rPr sz="700" dirty="0">
                <a:solidFill>
                  <a:srgbClr val="334155"/>
                </a:solidFill>
                <a:latin typeface="Arial"/>
              </a:rPr>
              <a:t>Actuate PWM power MOSFET to power Peltier &amp; fans; trigger audio-visual buzzer if door ajar; push telemetry to cloud.</a:t>
            </a:r>
          </a:p>
          <a:p>
            <a:r>
              <a:rPr sz="700" b="1" dirty="0">
                <a:solidFill>
                  <a:srgbClr val="0F172A"/>
                </a:solidFill>
                <a:latin typeface="Segoe UI"/>
              </a:rPr>
              <a:t>FEEDBACK: </a:t>
            </a:r>
            <a:r>
              <a:rPr sz="700" dirty="0">
                <a:solidFill>
                  <a:srgbClr val="334155"/>
                </a:solidFill>
                <a:latin typeface="Arial"/>
              </a:rPr>
              <a:t>Continuous 5-second polling loop provides closed-loop regulation, preventing thermal overshoot and battery over-discharge.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7086600" y="3401568"/>
            <a:ext cx="46634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Rounded Rectangle 17446"/>
          <p:cNvSpPr/>
          <p:nvPr/>
        </p:nvSpPr>
        <p:spPr>
          <a:xfrm>
            <a:off x="7223760" y="3474720"/>
            <a:ext cx="329184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SOLID-STATE THERMOELECTRIC PRINCIPLE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223760" y="3730752"/>
            <a:ext cx="4389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Rounded Rectangle 17448"/>
          <p:cNvSpPr/>
          <p:nvPr/>
        </p:nvSpPr>
        <p:spPr>
          <a:xfrm>
            <a:off x="7269480" y="3767328"/>
            <a:ext cx="1280160" cy="1828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0284C7"/>
                </a:solidFill>
                <a:latin typeface="Segoe UI"/>
              </a:defRPr>
            </a:pPr>
            <a:r>
              <a:t>STORAGE CHAMBER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595360" y="3767328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Enclosed 20–40L insulated space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269480" y="3977640"/>
            <a:ext cx="1280160" cy="1828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0070C0"/>
                </a:solidFill>
                <a:latin typeface="Segoe UI"/>
              </a:defRPr>
            </a:pPr>
            <a:r>
              <a:t>COLD SIDE PLATE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595360" y="3977640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Absorbs heat from storage chamber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269480" y="4187952"/>
            <a:ext cx="1280160" cy="1828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PELTIER MODULE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595360" y="4187952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TEC solid-state heat pump transfer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7269480" y="4398264"/>
            <a:ext cx="1280160" cy="1828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B91C1C"/>
                </a:solidFill>
                <a:latin typeface="Segoe UI"/>
              </a:defRPr>
            </a:pPr>
            <a:r>
              <a:t>HOT SIDE BASE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595360" y="4398264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Conducts rejected thermal energy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269480" y="4608576"/>
            <a:ext cx="12801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B45309"/>
                </a:solidFill>
                <a:latin typeface="Segoe UI"/>
              </a:defRPr>
            </a:pPr>
            <a:r>
              <a:t>HEATSINK + FAN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595360" y="4608576"/>
            <a:ext cx="2926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Forced-air heat dissipation to outside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223760" y="4956048"/>
            <a:ext cx="4389120" cy="8686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Technical Principle: The Peltier module transfers heat via the thermoelectric Seebeck/Peltier effect rather than creating cold.</a:t>
            </a:r>
          </a:p>
          <a:p>
            <a:pPr>
              <a:spcAft>
                <a:spcPts val="2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Thermal Isolation: Cold side actively absorbs heat from chamber; hot side rejects heat externally to ambient air via high-CFM exhaust — hot air is NEVER directed into the storage chamber.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23760" y="5833872"/>
            <a:ext cx="4389120" cy="23774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TextBox 17460"/>
          <p:cNvSpPr txBox="1"/>
          <p:nvPr/>
        </p:nvSpPr>
        <p:spPr>
          <a:xfrm>
            <a:off x="7269480" y="5852160"/>
            <a:ext cx="4297680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50" b="1">
                <a:solidFill>
                  <a:srgbClr val="166534"/>
                </a:solidFill>
                <a:latin typeface="Segoe UI"/>
              </a:defRPr>
            </a:pPr>
            <a:r>
              <a:t>Commercial Note: For larger-capacity commercial variants, the refrigeration technology can be selected according to the required thermal load, while retaining the IoT/control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algn="l" eaLnBrk="1" hangingPunct="1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Technical Viability, Operational Practicality, Economic Model &amp; Defensible Risk Mitigation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219456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A. 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408176"/>
            <a:ext cx="3337560" cy="18288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COTS Availability: </a:t>
            </a:r>
            <a:r>
              <a:rPr sz="700">
                <a:solidFill>
                  <a:srgbClr val="334155"/>
                </a:solidFill>
                <a:latin typeface="Arial"/>
              </a:rPr>
              <a:t>Built entirely from commercially available off-the-shelf components (PV panels, battery, MCU, sensors).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Proven Embedded Control: </a:t>
            </a:r>
            <a:r>
              <a:rPr sz="700">
                <a:solidFill>
                  <a:srgbClr val="334155"/>
                </a:solidFill>
                <a:latin typeface="Arial"/>
              </a:rPr>
              <a:t>ESP32 multi-sensor telemetry, FreeRTOS logic, and PWM switching are mature and field-proven.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Established Solar Tech: </a:t>
            </a:r>
            <a:r>
              <a:rPr sz="700">
                <a:solidFill>
                  <a:srgbClr val="334155"/>
                </a:solidFill>
                <a:latin typeface="Arial"/>
              </a:rPr>
              <a:t>Monocrystalline PV + LiFePO4 chemistry provides dependable, safe off-grid energy storage.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Thermoelectric Status: </a:t>
            </a:r>
            <a:r>
              <a:rPr sz="700">
                <a:solidFill>
                  <a:srgbClr val="334155"/>
                </a:solidFill>
                <a:latin typeface="Arial"/>
              </a:rPr>
              <a:t>Peltier cooling is being evaluated for the compact prototype through thermal characterization.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0F172A"/>
                </a:solidFill>
                <a:latin typeface="Segoe UI"/>
              </a:rPr>
              <a:t>• Critical Thermal Factors: </a:t>
            </a:r>
            <a:r>
              <a:rPr sz="700">
                <a:solidFill>
                  <a:srgbClr val="334155"/>
                </a:solidFill>
                <a:latin typeface="Arial"/>
              </a:rPr>
              <a:t>High-density PUF insulation and efficient hot-side heat dissipation are primary design determinants.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06240" y="10789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343400" y="1152144"/>
            <a:ext cx="2286000" cy="21945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B. OPERATIONAL FEASIBILITY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43400" y="1408176"/>
            <a:ext cx="3337560" cy="18288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Farmer-Centric UI: </a:t>
            </a:r>
            <a:r>
              <a:rPr sz="700">
                <a:solidFill>
                  <a:srgbClr val="334155"/>
                </a:solidFill>
                <a:latin typeface="Arial"/>
              </a:rPr>
              <a:t>Simple local indicators (LED/Buzzer) and intuitive multilingual mobile dashboard requiring zero tech training.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Low Maintenance: </a:t>
            </a:r>
            <a:r>
              <a:rPr sz="700">
                <a:solidFill>
                  <a:srgbClr val="334155"/>
                </a:solidFill>
                <a:latin typeface="Arial"/>
              </a:rPr>
              <a:t>Solid-state thermoelectric module contains zero mechanical compressors, belts, or refrigerant piping to service.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True Off-Grid Autonomy: </a:t>
            </a:r>
            <a:r>
              <a:rPr sz="700">
                <a:solidFill>
                  <a:srgbClr val="334155"/>
                </a:solidFill>
                <a:latin typeface="Arial"/>
              </a:rPr>
              <a:t>Direct solar daytime operation with LiFePO4 battery buffer sustains continuous 24-hr cooling.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Automated Anomaly Alerts: </a:t>
            </a:r>
            <a:r>
              <a:rPr sz="700">
                <a:solidFill>
                  <a:srgbClr val="334155"/>
                </a:solidFill>
                <a:latin typeface="Arial"/>
              </a:rPr>
              <a:t>Real-time notifications for door-ajar, high temperature, or low battery level prevent produce loss.</a:t>
            </a:r>
          </a:p>
          <a:p>
            <a:pPr>
              <a:spcAft>
                <a:spcPts val="200"/>
              </a:spcAft>
            </a:pPr>
            <a:r>
              <a:rPr sz="720" b="1">
                <a:solidFill>
                  <a:srgbClr val="166534"/>
                </a:solidFill>
                <a:latin typeface="Segoe UI"/>
              </a:rPr>
              <a:t>• Deployment Flexibility: </a:t>
            </a:r>
            <a:r>
              <a:rPr sz="700">
                <a:solidFill>
                  <a:srgbClr val="334155"/>
                </a:solidFill>
                <a:latin typeface="Arial"/>
              </a:rPr>
              <a:t>Designed for individual farm-gate placement or shared Farmer Producer Organization (FPO) hubs.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01000" y="1078992"/>
            <a:ext cx="3749039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8138160" y="1152144"/>
            <a:ext cx="2377440" cy="21945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C. ECONOMIC &amp; COST MODEL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138160" y="1408176"/>
            <a:ext cx="34747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229600" y="1426464"/>
            <a:ext cx="329184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950" b="1">
                <a:solidFill>
                  <a:srgbClr val="B45309"/>
                </a:solidFill>
                <a:latin typeface="Segoe UI"/>
              </a:defRPr>
            </a:pPr>
            <a:r>
              <a:t>ESTIMATED PROTOTYPE COST: ₹25,000</a:t>
            </a:r>
          </a:p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Targeted low-cost prototype architecture; commercial pricing requires field validation and production costing.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138160" y="1956816"/>
            <a:ext cx="3474720" cy="1280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Energy Subsystem (~48%): </a:t>
            </a:r>
            <a:r>
              <a:rPr sz="680">
                <a:solidFill>
                  <a:srgbClr val="334155"/>
                </a:solidFill>
                <a:latin typeface="Arial"/>
              </a:rPr>
              <a:t>100W Solar PV + MPPT + 12V LiFePO4 battery pack.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Enclosure &amp; PUF (~20%): </a:t>
            </a:r>
            <a:r>
              <a:rPr sz="680">
                <a:solidFill>
                  <a:srgbClr val="334155"/>
                </a:solidFill>
                <a:latin typeface="Arial"/>
              </a:rPr>
              <a:t>Insulated 20–40L box, seals, and aluminum cold-plate.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Control &amp; Sensors (~10%): </a:t>
            </a:r>
            <a:r>
              <a:rPr sz="680">
                <a:solidFill>
                  <a:srgbClr val="334155"/>
                </a:solidFill>
                <a:latin typeface="Arial"/>
              </a:rPr>
              <a:t>ESP32 MCU, DS18B20, SHT31, INA219, and wiring.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Peltier Cooling Kit (~8%): </a:t>
            </a:r>
            <a:r>
              <a:rPr sz="680">
                <a:solidFill>
                  <a:srgbClr val="334155"/>
                </a:solidFill>
                <a:latin typeface="Arial"/>
              </a:rPr>
              <a:t>TEC1-12706 module, extruded heatsink, and dual fans.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• Assembly &amp; Spares (~14%): </a:t>
            </a:r>
            <a:r>
              <a:rPr sz="680">
                <a:solidFill>
                  <a:srgbClr val="334155"/>
                </a:solidFill>
                <a:latin typeface="Arial"/>
              </a:rPr>
              <a:t>Connectors, protective enclosure, and hardware.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284C7"/>
                </a:solidFill>
                <a:latin typeface="Segoe UI"/>
              </a:rPr>
              <a:t>• Commercial Outlook: </a:t>
            </a:r>
            <a:r>
              <a:rPr sz="680">
                <a:solidFill>
                  <a:srgbClr val="334155"/>
                </a:solidFill>
                <a:latin typeface="Arial"/>
              </a:rPr>
              <a:t>Commercial production cost to be determined after pilot-scale engineering and bulk sourcing.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3401568"/>
            <a:ext cx="6309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3474720"/>
            <a:ext cx="2560320" cy="21945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D. RISKS &amp; ENGINEERING MITIGATION MATRIX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3730752"/>
            <a:ext cx="6035040" cy="23317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1. High Ambient Heat &amp; Peltier Efficiency Drop: </a:t>
            </a:r>
            <a:r>
              <a:rPr sz="680">
                <a:solidFill>
                  <a:srgbClr val="64748B"/>
                </a:solidFill>
                <a:latin typeface="Arial"/>
              </a:rPr>
              <a:t>Peltier cooling performance decreases as ambient temperature and hot-side temperature increase.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High-density multi-layer PUF insulation + oversized extruded heatsink with high-CFM external exhaust fan.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2. Battery Degradation over 3–5 Years in Rural Conditions: </a:t>
            </a:r>
            <a:r>
              <a:rPr sz="680">
                <a:solidFill>
                  <a:srgbClr val="64748B"/>
                </a:solidFill>
                <a:latin typeface="Arial"/>
              </a:rPr>
              <a:t>Frequent deep discharge cycles degrade standard lead-acid batteries.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High-cycle LiFePO4 chemistry (2000+ cycles) with integrated BMS low-voltage cutoffs.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3. Sensor Calibration Drift in High Field Humidity: </a:t>
            </a:r>
            <a:r>
              <a:rPr sz="680">
                <a:solidFill>
                  <a:srgbClr val="64748B"/>
                </a:solidFill>
                <a:latin typeface="Arial"/>
              </a:rPr>
              <a:t>Moisture in NER climate can corrode exposed electronic sensors.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Sealed IP67 waterproof DS18B20 stainless temperature probes + conformal coating on PCB.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4. Seasonal Monsoon / Cloudy Solar Variations: </a:t>
            </a:r>
            <a:r>
              <a:rPr sz="680">
                <a:solidFill>
                  <a:srgbClr val="64748B"/>
                </a:solidFill>
                <a:latin typeface="Arial"/>
              </a:rPr>
              <a:t>Extended cloud cover reduces daily solar energy harvesting.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Sized LiFePO4 energy reserve + adaptive energy-aware cooling logic with dynamic hysteresis.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5. Thermal Shock from Fresh Warm Produce: </a:t>
            </a:r>
            <a:r>
              <a:rPr sz="680">
                <a:solidFill>
                  <a:srgbClr val="64748B"/>
                </a:solidFill>
                <a:latin typeface="Arial"/>
              </a:rPr>
              <a:t>Loading field-hot vegetables creates a sudden thermal spike.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Internal circulation pre-cooling and staggered batch-loading guidelines for farmers.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6. Farmer Digital Literacy &amp; Adoption Resistance: </a:t>
            </a:r>
            <a:r>
              <a:rPr sz="680">
                <a:solidFill>
                  <a:srgbClr val="64748B"/>
                </a:solidFill>
                <a:latin typeface="Arial"/>
              </a:rPr>
              <a:t>Smallholders may hesitate to use complex smartphone applications. — </a:t>
            </a:r>
            <a:r>
              <a:rPr sz="680" b="1">
                <a:solidFill>
                  <a:srgbClr val="166534"/>
                </a:solidFill>
                <a:latin typeface="Segoe UI"/>
              </a:rPr>
              <a:t>✔ Mitigation: Autonomous local edge control (cooling operates without app) + simple multilingual voice/LED alerts.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949440" y="3401568"/>
            <a:ext cx="4800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7086600" y="3474720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EMPIRICAL VALIDATION FRAMEWORK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086600" y="3730752"/>
            <a:ext cx="4526280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7178040" y="3749039"/>
            <a:ext cx="4343400" cy="9326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  <a:defRPr sz="750" b="1">
                <a:solidFill>
                  <a:srgbClr val="166534"/>
                </a:solidFill>
                <a:latin typeface="Segoe UI"/>
              </a:defRPr>
            </a:pPr>
            <a:r>
              <a:t>CURRENTLY DEMONSTRATED (Prototype Architecture):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End-to-end solar PV, MPPT, battery, and DC power bus integration.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ESP32 multi-sensor telemetry (temperature, humidity, door, power).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Automated closed-loop hysteresis cooling control logic &amp; low-voltage protection.</a:t>
            </a:r>
          </a:p>
          <a:p>
            <a:pPr>
              <a:defRPr sz="680">
                <a:solidFill>
                  <a:srgbClr val="0F172A"/>
                </a:solidFill>
                <a:latin typeface="Arial"/>
              </a:defRPr>
            </a:pPr>
            <a:r>
              <a:t>✔ Live web IoT dashboard demonstration with real-time alert dispatch.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086600" y="4809744"/>
            <a:ext cx="4526280" cy="12435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178040" y="4828032"/>
            <a:ext cx="4343400" cy="11704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  <a:defRPr sz="750" b="1">
                <a:solidFill>
                  <a:srgbClr val="0284C7"/>
                </a:solidFill>
                <a:latin typeface="Segoe UI"/>
              </a:defRPr>
            </a:pPr>
            <a:r>
              <a:t>PLANNED LAB &amp; FIELD VALIDATION STEPS: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Chamber pull-down time from ambient to target setpoint (4–8°C).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Steady-state temperature maintenance &amp; recovery after door openings.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Internal relative humidity stability (85–95% RH) for leafy vegetables.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24-hr watt-hour energy consumption &amp; LiFePO4 battery autonomy duration.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Cooling performance under varying ambient temperatures (25°C to 40°C).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Shelf-life extension and produce weight retention across vegetable varieties.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algn="l" eaLnBrk="1" hangingPunct="1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Socio-Economic Value Creation, Post-Harvest Preservation &amp; Sustainable Micro-Cold-Chain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11292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33856"/>
            <a:ext cx="256032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FARM-TO-MARKET VALUE JOURNEY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1. FARM HARVEST</a:t>
            </a:r>
            <a:br/>
            <a:r>
              <a:t>Picked at peak freshness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40487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83464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2. HARVESTIQ STORAGE</a:t>
            </a:r>
            <a:br/>
            <a:r>
              <a:t>Immediate pre-cooling buffer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64515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7492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3. PRESERVED QUALITY</a:t>
            </a:r>
            <a:br/>
            <a:r>
              <a:t>Moisture &amp; freshness held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88543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1520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4. MARKET TIMING</a:t>
            </a:r>
            <a:br/>
            <a:r>
              <a:t>Avoid distress sales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125712" y="1572768"/>
            <a:ext cx="219456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900" b="1">
                <a:solidFill>
                  <a:srgbClr val="166534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555480" y="1389888"/>
            <a:ext cx="1783080" cy="621792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166534"/>
                </a:solidFill>
                <a:latin typeface="Segoe UI"/>
              </a:defRPr>
            </a:pPr>
            <a:r>
              <a:t>5. VALUE CREATION</a:t>
            </a:r>
            <a:br/>
            <a:r>
              <a:t>Higher net farmer profit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2212848"/>
            <a:ext cx="11292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2267712"/>
            <a:ext cx="274320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FIVE PILLARS OF MEASURABLE VALUE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2523744"/>
            <a:ext cx="2057400" cy="16276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6751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0284C7"/>
                </a:solidFill>
                <a:latin typeface="Segoe UI"/>
              </a:defRPr>
            </a:pPr>
            <a:r>
              <a:t>FARMER EMPOWERMENT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Greater autonomy over harvest buffer storage.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Reduced dependence on immediate distress sales.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Enhanced bargaining power with traders.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834640" y="2523744"/>
            <a:ext cx="2057400" cy="16276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290779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166534"/>
                </a:solidFill>
                <a:latin typeface="Segoe UI"/>
              </a:defRPr>
            </a:pPr>
            <a:r>
              <a:rPr dirty="0"/>
              <a:t>ECONOMIC VALUE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rPr dirty="0"/>
              <a:t>• Potential reduction in post-harvest physical loss.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rPr dirty="0"/>
              <a:t>• Opportunity to time sales for peak market rates.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rPr dirty="0"/>
              <a:t>• Accessible modular micro-capex model.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74920" y="2523744"/>
            <a:ext cx="2057400" cy="16276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514807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B45309"/>
                </a:solidFill>
                <a:latin typeface="Segoe UI"/>
              </a:defRPr>
            </a:pPr>
            <a:r>
              <a:t>RURAL ACCESSIBILITY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Designed for remote, hilly NER geographies.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100% off-grid; zero rural grid dependence.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Simple multilingual interface for rural farmers.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315200" y="2523744"/>
            <a:ext cx="2057400" cy="162763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738835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D28D9"/>
                </a:solidFill>
                <a:latin typeface="Segoe UI"/>
              </a:defRPr>
            </a:pPr>
            <a:r>
              <a:t>SUSTAINABILITY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100% solar powered; zero operational emissions.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No chemical refrigerants (CFC/HFC) in prototype.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Reduces food waste, saving water &amp; resources.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555480" y="2523744"/>
            <a:ext cx="2057400" cy="16276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9628632" y="2560320"/>
            <a:ext cx="1911095" cy="15361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0070C0"/>
                </a:solidFill>
                <a:latin typeface="Segoe UI"/>
              </a:defRPr>
            </a:pPr>
            <a:r>
              <a:t>DATA &amp; VISIBILITY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Real-time multi-parameter telemetry &amp; logging.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Automated closed-loop edge thermal control.</a:t>
            </a:r>
          </a:p>
          <a:p>
            <a:pPr>
              <a:spcAft>
                <a:spcPts val="200"/>
              </a:spcAft>
              <a:defRPr sz="700">
                <a:solidFill>
                  <a:srgbClr val="0F172A"/>
                </a:solidFill>
                <a:latin typeface="Arial"/>
              </a:defRPr>
            </a:pPr>
            <a:r>
              <a:t>• Proactive mobile alerts for temperature &amp; door.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4352544"/>
            <a:ext cx="6537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594360" y="4407408"/>
            <a:ext cx="384048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MEASURE IN PILOT: TARGET VALIDATION METRICS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94360" y="4645152"/>
            <a:ext cx="6263640" cy="1417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B91C1C"/>
                </a:solidFill>
                <a:latin typeface="Arial"/>
              </a:defRPr>
            </a:pPr>
            <a:r>
              <a:rPr dirty="0"/>
              <a:t>*Rigorous evidence-driven approach — establishing empirical benchmarks during field trials rather than unsupported claims: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Pull-Down Time: </a:t>
            </a:r>
            <a:r>
              <a:rPr sz="680" dirty="0">
                <a:solidFill>
                  <a:srgbClr val="334155"/>
                </a:solidFill>
                <a:latin typeface="Arial"/>
              </a:rPr>
              <a:t>Hours required to achieve 4–8°C storage setpoint under rated crop thermal load.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Temperature Stability: </a:t>
            </a:r>
            <a:r>
              <a:rPr sz="680" dirty="0">
                <a:solidFill>
                  <a:srgbClr val="334155"/>
                </a:solidFill>
                <a:latin typeface="Arial"/>
              </a:rPr>
              <a:t>Chamber thermal variation margin (±0.5°C) under fluctuating ambient temperatures.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Energy Consumption: </a:t>
            </a:r>
            <a:r>
              <a:rPr sz="680" dirty="0">
                <a:solidFill>
                  <a:srgbClr val="334155"/>
                </a:solidFill>
                <a:latin typeface="Arial"/>
              </a:rPr>
              <a:t>Average 24-hour watt-hour (</a:t>
            </a:r>
            <a:r>
              <a:rPr sz="680" dirty="0" err="1">
                <a:solidFill>
                  <a:srgbClr val="334155"/>
                </a:solidFill>
                <a:latin typeface="Arial"/>
              </a:rPr>
              <a:t>Wh</a:t>
            </a:r>
            <a:r>
              <a:rPr sz="680" dirty="0">
                <a:solidFill>
                  <a:srgbClr val="334155"/>
                </a:solidFill>
                <a:latin typeface="Arial"/>
              </a:rPr>
              <a:t>) energy profile under full solid-state cooling cycle.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Battery Autonomy: </a:t>
            </a:r>
            <a:r>
              <a:rPr sz="680" dirty="0">
                <a:solidFill>
                  <a:srgbClr val="334155"/>
                </a:solidFill>
                <a:latin typeface="Arial"/>
              </a:rPr>
              <a:t>Sustained operating hours achieved solely on LiFePO4 storage during overcast days.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Shelf-Life Improvement: </a:t>
            </a:r>
            <a:r>
              <a:rPr sz="680" dirty="0">
                <a:solidFill>
                  <a:srgbClr val="334155"/>
                </a:solidFill>
                <a:latin typeface="Arial"/>
              </a:rPr>
              <a:t>Measured extension in marketable days compared to ambient control samples.</a:t>
            </a:r>
          </a:p>
          <a:p>
            <a:pPr>
              <a:spcAft>
                <a:spcPts val="100"/>
              </a:spcAft>
            </a:pPr>
            <a:r>
              <a:rPr sz="680" b="1" dirty="0">
                <a:solidFill>
                  <a:srgbClr val="0F172A"/>
                </a:solidFill>
                <a:latin typeface="Segoe UI"/>
              </a:rPr>
              <a:t>• Spoilage Reduction: </a:t>
            </a:r>
            <a:r>
              <a:rPr sz="680" dirty="0">
                <a:solidFill>
                  <a:srgbClr val="334155"/>
                </a:solidFill>
                <a:latin typeface="Arial"/>
              </a:rPr>
              <a:t>Quantified reduction in produce physical decay and post-harvest weight loss.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132320" y="4352544"/>
            <a:ext cx="46177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7269480" y="4407408"/>
            <a:ext cx="3291840" cy="20116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FUTURE INTELLIGENCE ROADMAP [Proposed Capabilities]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269480" y="4645152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IoT Telemetry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549640" y="4645152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Real-time microclimate &amp; energy data collection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7269480" y="4901184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Data Analytics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549640" y="4901184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Storage patterns, decay trends &amp; baseline profiling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269480" y="5157216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Shelf-Life Prediction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549640" y="5157216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AI estimation of remaining marketable produce days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269480" y="5413248"/>
            <a:ext cx="1234440" cy="219456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680" b="1">
                <a:solidFill>
                  <a:srgbClr val="6D28D9"/>
                </a:solidFill>
                <a:latin typeface="Segoe UI"/>
              </a:defRPr>
            </a:pPr>
            <a:r>
              <a:t>Demand-Aware Storage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549640" y="5413248"/>
            <a:ext cx="310896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Market-coordinated cooling &amp; dispatch scheduling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269480" y="5779008"/>
            <a:ext cx="4343400" cy="237744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166534"/>
                </a:solidFill>
                <a:latin typeface="Segoe UI"/>
              </a:defRPr>
            </a:pPr>
            <a:r>
              <a:t>“From cold storage hardware to an intelligent micro-cold-chain platform.”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438912"/>
          </a:xfrm>
        </p:spPr>
        <p:txBody>
          <a:bodyPr wrap="square"/>
          <a:lstStyle/>
          <a:p>
            <a:pPr algn="l" eaLnBrk="1" hangingPunct="1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  <a:latin typeface="Arial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09728"/>
            <a:ext cx="118872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45920" y="512064"/>
            <a:ext cx="8046720" cy="29260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Prior Art Benchmarking, Scientific Literature, Institutional Sources &amp; Defensible Conclusion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78992"/>
            <a:ext cx="5532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RESEARCH FOUNDATION &amp; BENCHMARKING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408176"/>
            <a:ext cx="5257800" cy="21945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166534"/>
                </a:solidFill>
                <a:latin typeface="Segoe UI"/>
              </a:defRPr>
            </a:pPr>
            <a:r>
              <a:t>1. PUSA FARM SUNFRIDGE (Benchmark Inspiration):</a:t>
            </a:r>
          </a:p>
          <a:p>
            <a:pPr>
              <a:spcAft>
                <a:spcPts val="200"/>
              </a:spcAft>
              <a:defRPr sz="680">
                <a:solidFill>
                  <a:srgbClr val="334155"/>
                </a:solidFill>
                <a:latin typeface="Arial"/>
              </a:defRPr>
            </a:pPr>
            <a:r>
              <a:t>• Developed by Dr. Sangeeta Chopra (IARI) in collaboration with Michigan State University.</a:t>
            </a:r>
            <a:br/>
            <a:r>
              <a:t>• Off-grid, solar-powered farm cold storage facility demonstrating the fundamental viability of decentralized solar preservation for smallholders.</a:t>
            </a:r>
            <a:br/>
            <a:r>
              <a:t>• System Differentiation: Pusa SunFridge is a larger (~1–2 tonne) farm-level cold room; HarvestIQ targets a compact (20–40L) micro-storage unit with battery buffer, solid-state cooling, and IoT monitoring for individual smallholders and quick harvest batching.</a:t>
            </a:r>
            <a:br/>
            <a:r>
              <a:t>• Core Benchmark Positioning: “Existing solutions validate the need for decentralized solar-based preservation; HarvestIQ focuses on a compact, IoT-enabled micro-storage architecture.”</a:t>
            </a:r>
          </a:p>
          <a:p>
            <a:pPr>
              <a:defRPr sz="780" b="1">
                <a:solidFill>
                  <a:srgbClr val="0284C7"/>
                </a:solidFill>
                <a:latin typeface="Segoe UI"/>
              </a:defRPr>
            </a:pPr>
            <a:r>
              <a:t>2. POST-HARVEST AGRONOMIC RESEARCH: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Rapid field heat removal is the single most critical agronomic factor in suppressing vegetable respiration and moisture transpiration.</a:t>
            </a:r>
            <a:br/>
            <a:r>
              <a:t>• Hilly Northeast logistics necessitate immediate decentralized pre-cooling at the farm gate before multi-day transit.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1078992"/>
            <a:ext cx="56235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1152144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INSTITUTIONAL &amp; SCIENTIFIC REFERENCES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63640" y="1408176"/>
            <a:ext cx="5349240" cy="1417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[1] NITI Aayog Frontier Tech: </a:t>
            </a:r>
            <a:r>
              <a:rPr sz="680">
                <a:solidFill>
                  <a:srgbClr val="334155"/>
                </a:solidFill>
                <a:latin typeface="Arial"/>
              </a:rPr>
              <a:t>“Solar-Powered Cold Storage: A Sustainable Solution for India's Agricultural Sector.” </a:t>
            </a:r>
            <a:r>
              <a:rPr sz="620">
                <a:solidFill>
                  <a:srgbClr val="64748B"/>
                </a:solidFill>
                <a:latin typeface="Arial"/>
              </a:rPr>
              <a:t>(frontiertech.niti.gov.in)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[2] NITI Aayog Frontier Tech: </a:t>
            </a:r>
            <a:r>
              <a:rPr sz="680">
                <a:solidFill>
                  <a:srgbClr val="334155"/>
                </a:solidFill>
                <a:latin typeface="Arial"/>
              </a:rPr>
              <a:t>“Reimagining Cold Chains: Tech-Driven Storage Solutions for India’s Perishable Agriculture.” </a:t>
            </a:r>
            <a:r>
              <a:rPr sz="620">
                <a:solidFill>
                  <a:srgbClr val="64748B"/>
                </a:solidFill>
                <a:latin typeface="Arial"/>
              </a:rPr>
              <a:t>(frontiertech.niti.gov.in)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[3] Inclusive IAS: </a:t>
            </a:r>
            <a:r>
              <a:rPr sz="680">
                <a:solidFill>
                  <a:srgbClr val="334155"/>
                </a:solidFill>
                <a:latin typeface="Arial"/>
              </a:rPr>
              <a:t>“Issues with Transportation of Agricultural Produce in India: Infrastructure Bottlenecks.” </a:t>
            </a:r>
            <a:r>
              <a:rPr sz="620">
                <a:solidFill>
                  <a:srgbClr val="64748B"/>
                </a:solidFill>
                <a:latin typeface="Arial"/>
              </a:rPr>
              <a:t>(inclusiveias.com)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[4] Times of India: </a:t>
            </a:r>
            <a:r>
              <a:rPr sz="680">
                <a:solidFill>
                  <a:srgbClr val="334155"/>
                </a:solidFill>
                <a:latin typeface="Arial"/>
              </a:rPr>
              <a:t>“From Farm to Fork: Rethinking India’s Cold Chain Architecture.” </a:t>
            </a:r>
            <a:r>
              <a:rPr sz="620">
                <a:solidFill>
                  <a:srgbClr val="64748B"/>
                </a:solidFill>
                <a:latin typeface="Arial"/>
              </a:rPr>
              <a:t>(timesofindia.indiatimes.com)</a:t>
            </a:r>
          </a:p>
          <a:p>
            <a:pPr>
              <a:spcAft>
                <a:spcPts val="100"/>
              </a:spcAft>
            </a:pPr>
            <a:r>
              <a:rPr sz="680" b="1">
                <a:solidFill>
                  <a:srgbClr val="0F172A"/>
                </a:solidFill>
                <a:latin typeface="Segoe UI"/>
              </a:rPr>
              <a:t>[5] ICAR Literature: </a:t>
            </a:r>
            <a:r>
              <a:rPr sz="680">
                <a:solidFill>
                  <a:srgbClr val="334155"/>
                </a:solidFill>
                <a:latin typeface="Arial"/>
              </a:rPr>
              <a:t>“Guidelines for On-Farm Cooling and Handling of Perishable Horticultural Crops.” </a:t>
            </a:r>
            <a:r>
              <a:rPr sz="620">
                <a:solidFill>
                  <a:srgbClr val="64748B"/>
                </a:solidFill>
                <a:latin typeface="Arial"/>
              </a:rPr>
              <a:t>(icar.gov.in)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63640" y="2880360"/>
            <a:ext cx="53492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55080" y="2907792"/>
            <a:ext cx="5166360" cy="6583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50" b="1">
                <a:solidFill>
                  <a:srgbClr val="0284C7"/>
                </a:solidFill>
                <a:latin typeface="Segoe UI"/>
              </a:defRPr>
            </a:pPr>
            <a:r>
              <a:t>PROJECT TEAM &amp; ACADEMIC MENTORSHIP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• Team Members: Sk Aman (Team Leader), P. Gopi Chand, P. Uday Kiran, K. Manu Vidya, S. Greeshma, G. Naveen Kumar</a:t>
            </a:r>
          </a:p>
          <a:p>
            <a:pPr>
              <a:defRPr sz="680" b="1">
                <a:solidFill>
                  <a:srgbClr val="166534"/>
                </a:solidFill>
                <a:latin typeface="Segoe UI"/>
              </a:defRPr>
            </a:pPr>
            <a:r>
              <a:t>• SIH Academic Mentor: Dr. B. Satya Sri, Professor – Department of ECE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794760"/>
            <a:ext cx="11292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858768"/>
            <a:ext cx="2926080" cy="2194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DEFENSIBLE CONCLUSION &amp; EXECUTION ROADMAP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4360" y="4114800"/>
            <a:ext cx="621792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4151376"/>
            <a:ext cx="6035040" cy="187451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0284C7"/>
                </a:solidFill>
                <a:latin typeface="Segoe UI"/>
              </a:rPr>
              <a:t>1. PROBLEM: </a:t>
            </a:r>
            <a:r>
              <a:rPr sz="680">
                <a:solidFill>
                  <a:srgbClr val="334155"/>
                </a:solidFill>
                <a:latin typeface="Arial"/>
              </a:rPr>
              <a:t>Smallholders in remote, hilly NER lack decentralized preservation, causing rapid spoilage &amp; distress sales.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284C7"/>
                </a:solidFill>
                <a:latin typeface="Segoe UI"/>
              </a:rPr>
              <a:t>2. SOLUTION: </a:t>
            </a:r>
            <a:r>
              <a:rPr sz="680">
                <a:solidFill>
                  <a:srgbClr val="334155"/>
                </a:solidFill>
                <a:latin typeface="Arial"/>
              </a:rPr>
              <a:t>HarvestIQ integrates 100% solar PV, LiFePO4 battery, solid-state Peltier cooling, ESP32 intelligence &amp; IoT telemetry.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166534"/>
                </a:solidFill>
                <a:latin typeface="Segoe UI"/>
              </a:rPr>
              <a:t>3. EVIDENCE: </a:t>
            </a:r>
            <a:r>
              <a:rPr sz="680">
                <a:solidFill>
                  <a:srgbClr val="334155"/>
                </a:solidFill>
                <a:latin typeface="Arial"/>
              </a:rPr>
              <a:t>Prototype architecture, edge control, and telemetry workflow demonstrated; thermodynamic pull-down and field trials are the defined validation steps.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166534"/>
                </a:solidFill>
                <a:latin typeface="Segoe UI"/>
              </a:rPr>
              <a:t>4. IMPACT: </a:t>
            </a:r>
            <a:r>
              <a:rPr sz="680">
                <a:solidFill>
                  <a:srgbClr val="334155"/>
                </a:solidFill>
                <a:latin typeface="Arial"/>
              </a:rPr>
              <a:t>Protects produce quality, grants farmers market timing flexibility, and establishes an accessible micro-cold-chain layer.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B91C1C"/>
                </a:solidFill>
                <a:latin typeface="Segoe UI"/>
              </a:rPr>
              <a:t>5. RECOMMENDATION: </a:t>
            </a:r>
            <a:r>
              <a:rPr sz="680">
                <a:solidFill>
                  <a:srgbClr val="334155"/>
                </a:solidFill>
                <a:latin typeface="Arial"/>
              </a:rPr>
              <a:t>Proceed to thermal characterization → farmer pilot in NER clusters → optimization → scalable deployment.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903720" y="4114800"/>
            <a:ext cx="4709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995160" y="4151376"/>
            <a:ext cx="45262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defRPr sz="780" b="1">
                <a:solidFill>
                  <a:srgbClr val="0F172A"/>
                </a:solidFill>
                <a:latin typeface="Segoe UI"/>
              </a:defRPr>
            </a:pPr>
            <a:r>
              <a:t>PHASED IMPLEMENTATION ROADMAP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995160" y="4370832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818120" y="4370832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Prototype &amp; Thermal Testing: </a:t>
            </a:r>
            <a:r>
              <a:rPr sz="680">
                <a:solidFill>
                  <a:srgbClr val="334155"/>
                </a:solidFill>
                <a:latin typeface="Arial"/>
              </a:rPr>
              <a:t>Characterize pull-down rate &amp; steady-state COP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995160" y="4663440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818120" y="4663440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Field Pilot &amp; Farmer Trials: </a:t>
            </a:r>
            <a:r>
              <a:rPr sz="680">
                <a:solidFill>
                  <a:srgbClr val="334155"/>
                </a:solidFill>
                <a:latin typeface="Arial"/>
              </a:rPr>
              <a:t>Validate in real NER farming cluster with user feedback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995160" y="4956048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THEN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818120" y="4956048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Optimization &amp; Sourcing: </a:t>
            </a:r>
            <a:r>
              <a:rPr sz="680">
                <a:solidFill>
                  <a:srgbClr val="334155"/>
                </a:solidFill>
                <a:latin typeface="Arial"/>
              </a:rPr>
              <a:t>Optimize insulation k-value, battery capacity &amp; BOM cost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995160" y="5248656"/>
            <a:ext cx="77724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20" b="1">
                <a:solidFill>
                  <a:srgbClr val="FFFFFF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818120" y="5248656"/>
            <a:ext cx="37033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sz="700" b="1">
                <a:solidFill>
                  <a:srgbClr val="0F172A"/>
                </a:solidFill>
                <a:latin typeface="Segoe UI"/>
              </a:rPr>
              <a:t>Intelligent Micro-Cold-Chain: </a:t>
            </a:r>
            <a:r>
              <a:rPr sz="680">
                <a:solidFill>
                  <a:srgbClr val="334155"/>
                </a:solidFill>
                <a:latin typeface="Arial"/>
              </a:rPr>
              <a:t>Scale modular units with predictive cloud shelf-life AI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995160" y="5596128"/>
            <a:ext cx="4526280" cy="40233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7086600" y="5614416"/>
            <a:ext cx="4343400" cy="3474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819" b="1">
                <a:solidFill>
                  <a:srgbClr val="166534"/>
                </a:solidFill>
                <a:latin typeface="Segoe UI"/>
              </a:defRPr>
            </a:pPr>
            <a:r>
              <a:t>“Preserve Freshness. Choose When to Sell. Create Better Value.”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7625</TotalTime>
  <Words>2910</Words>
  <Application>Microsoft Office PowerPoint</Application>
  <PresentationFormat>Widescreen</PresentationFormat>
  <Paragraphs>275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Segoe UI</vt:lpstr>
      <vt:lpstr>TradeGothic</vt:lpstr>
      <vt:lpstr>Office Theme</vt:lpstr>
      <vt:lpstr>PowerPoint Presentation</vt:lpstr>
      <vt:lpstr>HARVESTIQ — THE PROPOSED SOLUTION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Shaik Aman</cp:lastModifiedBy>
  <cp:revision>148</cp:revision>
  <dcterms:created xsi:type="dcterms:W3CDTF">2013-12-12T18:46:50Z</dcterms:created>
  <dcterms:modified xsi:type="dcterms:W3CDTF">2026-09-14T08:14:27Z</dcterms:modified>
  <cp:category/>
</cp:coreProperties>
</file>